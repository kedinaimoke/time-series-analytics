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90" r:id="rId2"/>
    <p:sldId id="454" r:id="rId3"/>
    <p:sldId id="452" r:id="rId4"/>
    <p:sldId id="388" r:id="rId5"/>
    <p:sldId id="451" r:id="rId6"/>
    <p:sldId id="455" r:id="rId7"/>
    <p:sldId id="484" r:id="rId8"/>
    <p:sldId id="457" r:id="rId9"/>
    <p:sldId id="458" r:id="rId10"/>
    <p:sldId id="488" r:id="rId11"/>
    <p:sldId id="463" r:id="rId12"/>
    <p:sldId id="485" r:id="rId13"/>
    <p:sldId id="461" r:id="rId14"/>
    <p:sldId id="465" r:id="rId15"/>
    <p:sldId id="467" r:id="rId16"/>
    <p:sldId id="468" r:id="rId17"/>
    <p:sldId id="469" r:id="rId18"/>
    <p:sldId id="486" r:id="rId19"/>
    <p:sldId id="466" r:id="rId20"/>
    <p:sldId id="470" r:id="rId21"/>
    <p:sldId id="472" r:id="rId22"/>
    <p:sldId id="473" r:id="rId23"/>
    <p:sldId id="487" r:id="rId24"/>
    <p:sldId id="475" r:id="rId25"/>
    <p:sldId id="476" r:id="rId26"/>
    <p:sldId id="477" r:id="rId27"/>
    <p:sldId id="479" r:id="rId28"/>
    <p:sldId id="481" r:id="rId29"/>
    <p:sldId id="483" r:id="rId30"/>
    <p:sldId id="428" r:id="rId3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17" autoAdjust="0"/>
    <p:restoredTop sz="94291" autoAdjust="0"/>
  </p:normalViewPr>
  <p:slideViewPr>
    <p:cSldViewPr snapToGrid="0" showGuides="1">
      <p:cViewPr varScale="1">
        <p:scale>
          <a:sx n="72" d="100"/>
          <a:sy n="72" d="100"/>
        </p:scale>
        <p:origin x="5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93" d="100"/>
          <a:sy n="193" d="100"/>
        </p:scale>
        <p:origin x="7224" y="1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151927AD-D079-940A-F15A-6D058EB2BF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9076F93-184D-F26B-08EC-761871DAB7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BD232-182A-46E2-A0F6-40438188D337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253B871-6DAC-EEEE-B157-FA5307BD45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25AC7A9-E1D5-88DB-29E1-A956FBD491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720E83-2607-4755-9A37-D74B77337B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2547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016FB-90E3-402E-BD70-6B14424C347D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CD83E-47A5-49D8-A13E-EBEE4FA3047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966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dirty="0"/>
              <a:t>Good morning, everyone.</a:t>
            </a:r>
          </a:p>
          <a:p>
            <a:r>
              <a:rPr lang="en-US" i="0" dirty="0"/>
              <a:t>Today we will present our project titled Time-Series Analytics with Caching Layer.</a:t>
            </a:r>
          </a:p>
          <a:p>
            <a:r>
              <a:rPr lang="en-US" i="0" dirty="0"/>
              <a:t>The objective of this project was to design and implement a complete Big Data architecture capable of handling continuously generated sensor data, performing historical analytics, accelerating data retrieval through caching, and providing real-time visualization through an interactive dashboard.</a:t>
            </a:r>
          </a:p>
          <a:p>
            <a:r>
              <a:rPr lang="en-US" i="0" dirty="0"/>
              <a:t>The project integrates multiple technologies including </a:t>
            </a:r>
            <a:r>
              <a:rPr lang="en-US" i="0" dirty="0" err="1"/>
              <a:t>InfluxDB</a:t>
            </a:r>
            <a:r>
              <a:rPr lang="en-US" i="0" dirty="0"/>
              <a:t>, Redis &amp; Spark to create an end-to-end analytics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6921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570F8-5C25-E4C0-4308-2B2E13EA6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08D99E-E24E-27C5-5FC7-DA28E9E34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2F158B-2AEB-CDC5-32EF-8E76FAA14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diving into the technical details, I'd like to briefly outline the structure of today's presentation.</a:t>
            </a:r>
          </a:p>
          <a:p>
            <a:r>
              <a:rPr lang="en-US" dirty="0"/>
              <a:t>We will begin by discussing the motivation behind time-series analytics and the problem we set out to solve.</a:t>
            </a:r>
          </a:p>
          <a:p>
            <a:r>
              <a:rPr lang="en-US" dirty="0"/>
              <a:t>Next, we will define the project objectives and introduce the architecture that underpins the solution.</a:t>
            </a:r>
          </a:p>
          <a:p>
            <a:r>
              <a:rPr lang="en-US" dirty="0"/>
              <a:t>We will then examine the technologies selected and explain how the system was implemented, including the integration of </a:t>
            </a:r>
            <a:r>
              <a:rPr lang="en-US" dirty="0" err="1"/>
              <a:t>InfluxDB</a:t>
            </a:r>
            <a:r>
              <a:rPr lang="en-US" dirty="0"/>
              <a:t>, Redis, Apache Spark and Docker.</a:t>
            </a:r>
          </a:p>
          <a:p>
            <a:r>
              <a:rPr lang="en-US" dirty="0"/>
              <a:t>Following this, we will explore the analytical capabilities of the system, including anomaly detection and dashboard </a:t>
            </a:r>
            <a:r>
              <a:rPr lang="en-US" dirty="0" err="1"/>
              <a:t>visualisation</a:t>
            </a:r>
            <a:r>
              <a:rPr lang="en-US" dirty="0"/>
              <a:t>.</a:t>
            </a:r>
          </a:p>
          <a:p>
            <a:r>
              <a:rPr lang="en-US" dirty="0"/>
              <a:t>We will then evaluate the system's performance, particularly the impact of the Redis caching layer on query latency.</a:t>
            </a:r>
          </a:p>
          <a:p>
            <a:r>
              <a:rPr lang="en-US" dirty="0"/>
              <a:t>Finally, we will discuss the challenges encountered during development, outline potential future enhancements, and conclude with the key contributions of the project before opening the floor for questions.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82D77-86F6-C647-69E1-667811141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1324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933C9-30D6-6219-8446-B9DF1E2B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EE03AD-1575-E173-19C5-7B258B962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30037-FDB9-094D-F028-9D5840DFA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F1EC8-5B56-595A-2350-1FCB10C51C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569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Modern systems continuously generate timestamped data.</a:t>
            </a:r>
          </a:p>
          <a:p>
            <a:r>
              <a:rPr lang="en-US" dirty="0"/>
              <a:t>Examples include industrial equipment, cloud servers, energy grids, and IoT devices.</a:t>
            </a:r>
          </a:p>
          <a:p>
            <a:r>
              <a:rPr lang="en-US" dirty="0"/>
              <a:t>Unlike traditional transactional databases, these systems produce large volumes of sequential data that must be stored efficiently and queried rapidly.</a:t>
            </a:r>
          </a:p>
          <a:p>
            <a:r>
              <a:rPr lang="en-US" dirty="0"/>
              <a:t>As data volume increases, retrieval performance can degrade significantly.</a:t>
            </a:r>
          </a:p>
          <a:p>
            <a:r>
              <a:rPr lang="en-US" dirty="0"/>
              <a:t>This creates a need for architectures that support both long-term analytics and low-latency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0907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B531F-B806-193A-A86E-2848AE1B9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3A0E4-B16B-3FF5-BC5C-1419F1513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F5AD0-D0A2-C11D-085F-84EEF2FCF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central challenge addressed in this project is balancing performance and analytical capability.</a:t>
            </a:r>
          </a:p>
          <a:p>
            <a:r>
              <a:rPr lang="en-US" dirty="0" err="1"/>
              <a:t>Organisations</a:t>
            </a:r>
            <a:r>
              <a:rPr lang="en-US" dirty="0"/>
              <a:t> need access to historical data for analysis while simultaneously providing users with near real-time information.</a:t>
            </a:r>
          </a:p>
          <a:p>
            <a:r>
              <a:rPr lang="en-US" dirty="0"/>
              <a:t>Repeated database queries can become expensive and increase latency.</a:t>
            </a:r>
          </a:p>
          <a:p>
            <a:r>
              <a:rPr lang="en-US" dirty="0"/>
              <a:t>Our project investigates how introducing a caching layer can improve system responsiveness without sacrificing analytical functionality.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A195D-830B-BFA1-3696-48D3DDF7B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9377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18F6A-159E-A97C-1FD8-3F1113BFD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459346-3BDD-63E4-A4CE-27BDD01D7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D62D4-774C-F3A8-A572-44B09EF82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objectives guided the system design.</a:t>
            </a:r>
          </a:p>
          <a:p>
            <a:r>
              <a:rPr lang="en-US" dirty="0"/>
              <a:t>The architecture needed to support data ingestion, storage, analytics, anomaly detection, and visualization while maintaining performance.</a:t>
            </a:r>
          </a:p>
          <a:p>
            <a:r>
              <a:rPr lang="en-US" dirty="0"/>
              <a:t>Success was measured through implementation completeness and performance benchmarking.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7DDE0-391D-528C-6845-5202FA7D51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2341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70F94-C891-81FC-109D-A2F6F3E97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11D31-5C3D-7A2B-7C16-82AEA86B5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3BC78D-E3E3-293F-338B-E4D7F0E3D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CB92F-C871-F15B-E09F-D4BCA70C5A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4570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4FE88-D223-1370-3FB8-1AC4864F3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978EDC-290F-693F-FE1A-C179AF399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29B6C-EA18-039F-877F-0FEDDADAC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adopted a Lambda-inspired architecture because it separates historical processing from real-time access.</a:t>
            </a:r>
          </a:p>
          <a:p>
            <a:r>
              <a:rPr lang="en-US" dirty="0"/>
              <a:t>The batch layer handles large-scale analytical workloads.</a:t>
            </a:r>
          </a:p>
          <a:p>
            <a:r>
              <a:rPr lang="en-US" dirty="0"/>
              <a:t>The speed layer provides fast access to recent data.</a:t>
            </a:r>
          </a:p>
          <a:p>
            <a:r>
              <a:rPr lang="en-US" dirty="0"/>
              <a:t>The serving layer exposes results to users.</a:t>
            </a:r>
          </a:p>
          <a:p>
            <a:r>
              <a:rPr lang="en-US" dirty="0"/>
              <a:t>This approach is widely used in Big Data systems because it balances analytical depth with responsiveness.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AA7A9-5CBC-D5BC-1613-F8716805B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229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C6EB8-BEEC-5FD5-EE58-3DE3DDF94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D889D8-FD75-1A84-9653-23254FFEE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05E8B-A758-A515-AB38-86F438329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diagram illustrates the overall architecture.</a:t>
            </a:r>
          </a:p>
          <a:p>
            <a:r>
              <a:rPr lang="en-US" dirty="0"/>
              <a:t>A sensor reading first enters </a:t>
            </a:r>
            <a:r>
              <a:rPr lang="en-US" dirty="0" err="1"/>
              <a:t>InfluxDB</a:t>
            </a:r>
            <a:r>
              <a:rPr lang="en-US" dirty="0"/>
              <a:t>.</a:t>
            </a:r>
          </a:p>
          <a:p>
            <a:r>
              <a:rPr lang="en-US" dirty="0"/>
              <a:t>When a user requests data, Redis is checked first.</a:t>
            </a:r>
          </a:p>
          <a:p>
            <a:r>
              <a:rPr lang="en-US" dirty="0"/>
              <a:t>If the data is available in Redis, the request is served immediately.</a:t>
            </a:r>
          </a:p>
          <a:p>
            <a:r>
              <a:rPr lang="en-US" dirty="0"/>
              <a:t>If not, </a:t>
            </a:r>
            <a:r>
              <a:rPr lang="en-US" dirty="0" err="1"/>
              <a:t>InfluxDB</a:t>
            </a:r>
            <a:r>
              <a:rPr lang="en-US" dirty="0"/>
              <a:t> is queried and the result is cached for future requests.</a:t>
            </a:r>
          </a:p>
          <a:p>
            <a:r>
              <a:rPr lang="en-US" dirty="0"/>
              <a:t>Spark accesses historical data for analytical workloads independently from dashboard requests.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D233B-B881-F7DB-D678-1D87A2644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7287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F2427-94E2-1592-78AE-3CF672846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0467E-ABB0-CE2E-6F3F-7F0A8CC65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4A85CC-B946-0AC1-42FE-EC9B7B2AA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80684-BDF7-A3C3-864B-3C019F028D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22623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25620-28DB-C987-C9A8-6ADFC7308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AE1ED-361B-D9C6-C936-82989956A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B77FD4-072A-5149-C753-623F3FDCC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technology was selected because it </a:t>
            </a:r>
            <a:r>
              <a:rPr lang="en-US" dirty="0" err="1"/>
              <a:t>specialises</a:t>
            </a:r>
            <a:r>
              <a:rPr lang="en-US" dirty="0"/>
              <a:t> in a particular function.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InfluxDB</a:t>
            </a:r>
            <a:r>
              <a:rPr lang="en-US" dirty="0"/>
              <a:t> was designed specifically for time-series workloads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Redis for extremely low-latency caching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Spark for scalable distributed analytics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Python for APIs &amp; integration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Streamlit</a:t>
            </a:r>
            <a:r>
              <a:rPr lang="en-US" dirty="0"/>
              <a:t> for rapid dashboard development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Docker for reproducible deployment</a:t>
            </a:r>
          </a:p>
          <a:p>
            <a:r>
              <a:rPr lang="en-US" dirty="0" err="1"/>
              <a:t>Plotly</a:t>
            </a:r>
            <a:r>
              <a:rPr lang="en-US" dirty="0"/>
              <a:t> for data </a:t>
            </a:r>
            <a:r>
              <a:rPr lang="en-US" dirty="0" err="1"/>
              <a:t>visualisation</a:t>
            </a:r>
            <a:endParaRPr lang="en-US" dirty="0"/>
          </a:p>
          <a:p>
            <a:r>
              <a:rPr lang="en-US" dirty="0"/>
              <a:t>Rather than using a single platform for everything, we adopted a polyglot architecture where each component performs the task it was designed for.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A8AE0-83C7-5126-B960-5EAA998DA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44704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20E10-A01B-8462-7267-371B0D46D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1E385C-A130-8BEF-A481-B6833D9C1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25B2F-6D9E-316D-9E5B-8B4D57C3E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BF048-557C-24C8-9B26-703570DD6C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39361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BC20D-2663-F3DF-CACE-62DBF432C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32CF4-6664-FD5C-9D31-2F2306444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688B35-E735-46AB-6950-B9C8E12E6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sensor record contains environmental and system metrics.</a:t>
            </a:r>
          </a:p>
          <a:p>
            <a:r>
              <a:rPr lang="en-US" dirty="0"/>
              <a:t>The timestamp is critical because it enables time-based analysis and querying.</a:t>
            </a:r>
          </a:p>
          <a:p>
            <a:r>
              <a:rPr lang="en-US" dirty="0"/>
              <a:t>Additional anomaly indicators support analytical processing.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DCB59-DB53-10A2-C811-F00FDCDFA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5092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7D8C6-024D-3CDF-08C9-539783E2E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26CE0-4707-364B-D5D1-52DCCAF6A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4E34AD-11A6-7AAA-100D-07E0C7EFE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InfluxDB</a:t>
            </a:r>
            <a:r>
              <a:rPr lang="en-US" dirty="0"/>
              <a:t> serves as the primary storage layer.</a:t>
            </a:r>
          </a:p>
          <a:p>
            <a:r>
              <a:rPr lang="en-US" dirty="0"/>
              <a:t>Unlike traditional relational databases, it is specifically </a:t>
            </a:r>
            <a:r>
              <a:rPr lang="en-US" dirty="0" err="1"/>
              <a:t>optimised</a:t>
            </a:r>
            <a:r>
              <a:rPr lang="en-US" dirty="0"/>
              <a:t> for timestamped records and provides efficient handling of sequential sensor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26C28-0A1F-59A5-3320-16C814360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23299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A74F1-9426-C384-0F24-4E1B2262C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6EC20-7DA4-7A4E-B889-6CD40DE829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2C6059-DC2E-E7FD-1E80-617B6DB8C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caching layer is central to this project.</a:t>
            </a:r>
          </a:p>
          <a:p>
            <a:r>
              <a:rPr lang="en-US" dirty="0"/>
              <a:t>When data is requested, Redis is checked first.</a:t>
            </a:r>
          </a:p>
          <a:p>
            <a:r>
              <a:rPr lang="en-US" dirty="0"/>
              <a:t>A cache hit returns data immediately.</a:t>
            </a:r>
          </a:p>
          <a:p>
            <a:r>
              <a:rPr lang="en-US" dirty="0"/>
              <a:t>A cache miss triggers an </a:t>
            </a:r>
            <a:r>
              <a:rPr lang="en-US" dirty="0" err="1"/>
              <a:t>InfluxDB</a:t>
            </a:r>
            <a:r>
              <a:rPr lang="en-US" dirty="0"/>
              <a:t> query and stores the result in Redis for future requests.</a:t>
            </a:r>
          </a:p>
          <a:p>
            <a:r>
              <a:rPr lang="en-US" dirty="0"/>
              <a:t>This reduces database load and improves response times.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70D2F-FE5F-9EBC-D6A9-F3C9327B40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0377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2F3FE-9276-FDE4-C6AA-74D8A0A96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DDDD7-469B-3BDA-D912-4898F4807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10D570-210F-FF84-BD1F-AC60B26E5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Apache Spark was used for historical analytics.</a:t>
            </a:r>
          </a:p>
          <a:p>
            <a:r>
              <a:rPr lang="en-US" dirty="0"/>
              <a:t>Data is extracted from </a:t>
            </a:r>
            <a:r>
              <a:rPr lang="en-US" dirty="0" err="1"/>
              <a:t>InfluxDB</a:t>
            </a:r>
            <a:r>
              <a:rPr lang="en-US" dirty="0"/>
              <a:t> and transformed into Spark </a:t>
            </a:r>
            <a:r>
              <a:rPr lang="en-US" dirty="0" err="1"/>
              <a:t>DataFrames</a:t>
            </a:r>
            <a:r>
              <a:rPr lang="en-US" dirty="0"/>
              <a:t>.</a:t>
            </a:r>
          </a:p>
          <a:p>
            <a:r>
              <a:rPr lang="en-US" dirty="0"/>
              <a:t>Aggregations and analytical computations are then performed efficiently.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88893-4932-1A8B-3509-3051C7FD1B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92641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776D3-C10B-3327-9E9F-60B0A2B0D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89DD11-03EE-ED39-9672-2B16AF8BD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B1A4F1-4544-7213-7724-C979734E7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enabled consistent deployment across environments.</a:t>
            </a:r>
          </a:p>
          <a:p>
            <a:r>
              <a:rPr lang="en-US" dirty="0"/>
              <a:t>Each service operates within its own container, reducing dependency conflicts and simplifying setup.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33D09-09E1-924F-3D76-4B2E0E83EA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19436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94A45-A542-D31E-DD91-92DD911BA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AE45A2-2B22-278B-3F52-775A22328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134A7-AE8D-43A2-A1BE-C7D597E8A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F1E1F-E812-D8F8-8B51-8CC53DD63B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71708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FF543-7097-26D4-16A8-F51920BE7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974EFF-EE65-7382-7681-2CF25AA3B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83C21F-7753-66B1-F51A-93788236D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results demonstrate the analytical capabilities of the architecture.</a:t>
            </a:r>
          </a:p>
          <a:p>
            <a:r>
              <a:rPr lang="en-US" dirty="0"/>
              <a:t>Spark successfully processed historical sensor data and generated aggregated insights.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85683-F29D-1465-F0A1-4047A68D5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74608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EF955-979B-DF7A-27DA-5CD513628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E7D53-514B-0A93-4BAF-494FF1D91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9A2EC-FE97-2D8F-5A76-BDF399DBE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implemented both rule-based and statistical anomaly detection.</a:t>
            </a:r>
          </a:p>
          <a:p>
            <a:r>
              <a:rPr lang="en-US" dirty="0"/>
              <a:t>The rule-based approach identifies obvious threshold violations.</a:t>
            </a:r>
          </a:p>
          <a:p>
            <a:r>
              <a:rPr lang="en-US" dirty="0"/>
              <a:t>The Z-score method identifies statistically unusual observations where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= the value being evaluated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 = the mean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 = the standard deviation</a:t>
            </a:r>
          </a:p>
          <a:p>
            <a:endParaRPr lang="en-US" dirty="0"/>
          </a:p>
          <a:p>
            <a:r>
              <a:rPr lang="en-US" dirty="0"/>
              <a:t>Combining both approaches improves detection coverage.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8E5D2-EF13-D5A7-2D3F-8637405F6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98561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DBE42-3D9C-BE15-606C-1278AF47E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9D847-DB2E-9F8F-CF39-7FBB15F454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44F84-158B-0F0F-2DDD-02AE4A556B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Streamlit</a:t>
            </a:r>
            <a:r>
              <a:rPr lang="en-US" dirty="0"/>
              <a:t> dashboard serves as the presentation layer.</a:t>
            </a:r>
          </a:p>
          <a:p>
            <a:r>
              <a:rPr lang="en-US" dirty="0"/>
              <a:t>Users can monitor system performance and sensor </a:t>
            </a:r>
            <a:r>
              <a:rPr lang="en-US" dirty="0" err="1"/>
              <a:t>behaviour</a:t>
            </a:r>
            <a:r>
              <a:rPr lang="en-US" dirty="0"/>
              <a:t> in real time.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F90AB-140E-7948-F3D3-77D38BA26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98058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455D9-275F-7E91-136A-E2DD0D52A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9D40BA-8B29-D2BB-39D0-378001E7A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F6EAEC-2A43-3397-058A-9C63ACE6B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Plotly</a:t>
            </a:r>
            <a:r>
              <a:rPr lang="en-US" dirty="0"/>
              <a:t> was used because it supports interactive exploration.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A9B88-5A7B-AF28-9FDE-A81A8E864C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63421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BAA79-EFCB-EB50-2690-BB6AD0378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60606-E561-BB7D-5749-790068BFA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897B6-1D82-81B6-AC2D-50E766855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C43D5-C1A5-EC4A-C032-5C5C71DDF8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80345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818D5-9D26-46E9-94DC-72A2186A4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D8376E-8E60-44B3-826E-52F19EC00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C2F30D-2505-C9ED-3C65-B0726C14C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evaluate the caching layer, we compared two scenarios.</a:t>
            </a:r>
          </a:p>
          <a:p>
            <a:r>
              <a:rPr lang="en-US" dirty="0"/>
              <a:t>The first accessed data directly from </a:t>
            </a:r>
            <a:r>
              <a:rPr lang="en-US" dirty="0" err="1"/>
              <a:t>InfluxDB</a:t>
            </a:r>
            <a:r>
              <a:rPr lang="en-US" dirty="0"/>
              <a:t>.</a:t>
            </a:r>
          </a:p>
          <a:p>
            <a:r>
              <a:rPr lang="en-US" dirty="0"/>
              <a:t>The second retrieved previously cached data from Redis.</a:t>
            </a:r>
          </a:p>
          <a:p>
            <a:r>
              <a:rPr lang="en-US" dirty="0"/>
              <a:t>This allowed us to quantify the impact of caching.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05A9D-9CAB-9231-E5A6-006549407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85382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A151D-3BD7-03DE-1EFA-C532C879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558C45-AC90-88EC-8CFB-D5D5DD521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43887-46E9-C3CC-C5A6-A842A82F0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results clearly demonstrate the effectiveness of caching.</a:t>
            </a:r>
          </a:p>
          <a:p>
            <a:r>
              <a:rPr lang="en-US" dirty="0"/>
              <a:t>Redis reduced query latency from approximately 53 milliseconds to under 2 milliseconds.</a:t>
            </a:r>
          </a:p>
          <a:p>
            <a:r>
              <a:rPr lang="en-US" dirty="0"/>
              <a:t>This represents a performance improvement of 96.53%.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2A6CF-1934-4BA7-80E6-C00E845B84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91091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17BB8-C21F-330F-B6D1-D6EDF32C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4014B-90EA-0E81-047A-819223072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96A4AA-2C34-83C3-2BBA-AC21B0FBE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primary project objectives were achieved.</a:t>
            </a:r>
          </a:p>
          <a:p>
            <a:r>
              <a:rPr lang="en-US" dirty="0"/>
              <a:t>The system successfully integrates ingestion, storage, analytics, caching, and visualization into a unified architecture.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218CB-E83F-BCBC-DC30-7B30C76EC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51077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04842-6C65-6A11-F2B8-028411CE8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10017-68E5-B9C2-6E0F-5F5752958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F7E3EE-7A9D-0670-7236-B05ADDDC3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B223F-3540-B290-74B9-7F312812A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50301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AF12B-8C74-642F-7AAC-1DF1D42BF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9DD18-5538-0EC8-374B-511ADE8AC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2D6F13-847E-9B26-929B-297E3AC54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 would focus on enhancing scalability and intelligence.</a:t>
            </a:r>
          </a:p>
          <a:p>
            <a:r>
              <a:rPr lang="en-US" dirty="0" err="1"/>
              <a:t>Mlearning</a:t>
            </a:r>
            <a:r>
              <a:rPr lang="en-US" dirty="0"/>
              <a:t> could provide predictive anomaly detection.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AC873-751E-6E77-1D72-81073BCA8D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05105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ECEBF-5603-FE97-A02A-0A5820F68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327B5-1CFB-CE92-4C63-92AB7478E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B3862-E9C4-7E89-5020-30A3D2EBE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this project successfully demonstrates how modern Big Data technologies can be integrated to support time-series analytics.</a:t>
            </a:r>
          </a:p>
          <a:p>
            <a:r>
              <a:rPr lang="en-US" dirty="0"/>
              <a:t>The architecture achieved all project objectives and demonstrated substantial performance gains through caching.</a:t>
            </a:r>
          </a:p>
          <a:p>
            <a:r>
              <a:rPr lang="en-US" dirty="0"/>
              <a:t>Most importantly, it provides a scalable foundation for future real-time analytics systems.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C7816-ECB9-05C5-1E78-A2FF555BF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95748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attention.</a:t>
            </a:r>
          </a:p>
          <a:p>
            <a:r>
              <a:rPr lang="en-US" dirty="0"/>
              <a:t>We would be happy to answer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CD83E-47A5-49D8-A13E-EBEE4FA30474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8315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0976F8EF-610A-DCEF-1A70-730170C1B7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63525" y="1304925"/>
            <a:ext cx="10693400" cy="316865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B1479A-FAA5-D20B-A06D-FC0A755222A3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731839" y="4765199"/>
            <a:ext cx="9756773" cy="904558"/>
          </a:xfrm>
        </p:spPr>
        <p:txBody>
          <a:bodyPr anchor="t"/>
          <a:lstStyle>
            <a:lvl1pPr algn="l">
              <a:defRPr sz="3000" cap="none" spc="50"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F8A4821-A7F0-6CD3-4C0A-DE182B34D3FE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31839" y="5754531"/>
            <a:ext cx="9756773" cy="324000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8D45031-CB83-BC46-3090-35369709A6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11" y="208799"/>
            <a:ext cx="2477821" cy="828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EE1EF24-B562-8DFC-A3BE-753604B5CC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414" y="204788"/>
            <a:ext cx="1155349" cy="828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37747335-3BE0-E512-2191-73B018CCF676}"/>
              </a:ext>
            </a:extLst>
          </p:cNvPr>
          <p:cNvSpPr txBox="1"/>
          <p:nvPr userDrawn="1"/>
        </p:nvSpPr>
        <p:spPr bwMode="gray">
          <a:xfrm>
            <a:off x="731838" y="5991860"/>
            <a:ext cx="2256459" cy="341376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>
              <a:lnSpc>
                <a:spcPct val="94000"/>
              </a:lnSpc>
            </a:pPr>
            <a:fld id="{75B8A6A3-EC32-430C-B2A6-A56A5CD621F6}" type="datetime1">
              <a:rPr lang="de-DE" sz="2000" spc="0" baseline="0" smtClean="0"/>
              <a:pPr>
                <a:lnSpc>
                  <a:spcPct val="94000"/>
                </a:lnSpc>
              </a:pPr>
              <a:t>23.06.2026</a:t>
            </a:fld>
            <a:endParaRPr lang="de-DE" sz="2000" spc="0" baseline="0" dirty="0"/>
          </a:p>
        </p:txBody>
      </p:sp>
    </p:spTree>
    <p:extLst>
      <p:ext uri="{BB962C8B-B14F-4D97-AF65-F5344CB8AC3E}">
        <p14:creationId xmlns:p14="http://schemas.microsoft.com/office/powerpoint/2010/main" val="1829638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ildplatzhalter 25">
            <a:extLst>
              <a:ext uri="{FF2B5EF4-FFF2-40B4-BE49-F238E27FC236}">
                <a16:creationId xmlns:a16="http://schemas.microsoft.com/office/drawing/2014/main" id="{C6566940-789A-3677-9FBB-755FE074F34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63525" y="1304925"/>
            <a:ext cx="10693400" cy="2642235"/>
          </a:xfrm>
          <a:custGeom>
            <a:avLst/>
            <a:gdLst>
              <a:gd name="connsiteX0" fmla="*/ 10216470 w 10693400"/>
              <a:gd name="connsiteY0" fmla="*/ 0 h 2642235"/>
              <a:gd name="connsiteX1" fmla="*/ 10693400 w 10693400"/>
              <a:gd name="connsiteY1" fmla="*/ 0 h 2642235"/>
              <a:gd name="connsiteX2" fmla="*/ 10693400 w 10693400"/>
              <a:gd name="connsiteY2" fmla="*/ 1058263 h 2642235"/>
              <a:gd name="connsiteX3" fmla="*/ 10216470 w 10693400"/>
              <a:gd name="connsiteY3" fmla="*/ 1058263 h 2642235"/>
              <a:gd name="connsiteX4" fmla="*/ 0 w 10693400"/>
              <a:gd name="connsiteY4" fmla="*/ 0 h 2642235"/>
              <a:gd name="connsiteX5" fmla="*/ 9728668 w 10693400"/>
              <a:gd name="connsiteY5" fmla="*/ 0 h 2642235"/>
              <a:gd name="connsiteX6" fmla="*/ 9728668 w 10693400"/>
              <a:gd name="connsiteY6" fmla="*/ 1058270 h 2642235"/>
              <a:gd name="connsiteX7" fmla="*/ 10216470 w 10693400"/>
              <a:gd name="connsiteY7" fmla="*/ 1058270 h 2642235"/>
              <a:gd name="connsiteX8" fmla="*/ 10216470 w 10693400"/>
              <a:gd name="connsiteY8" fmla="*/ 2642235 h 2642235"/>
              <a:gd name="connsiteX9" fmla="*/ 9722305 w 10693400"/>
              <a:gd name="connsiteY9" fmla="*/ 2642235 h 2642235"/>
              <a:gd name="connsiteX10" fmla="*/ 9722305 w 10693400"/>
              <a:gd name="connsiteY10" fmla="*/ 1058263 h 2642235"/>
              <a:gd name="connsiteX11" fmla="*/ 9240865 w 10693400"/>
              <a:gd name="connsiteY11" fmla="*/ 1058263 h 2642235"/>
              <a:gd name="connsiteX12" fmla="*/ 9240865 w 10693400"/>
              <a:gd name="connsiteY12" fmla="*/ 2642235 h 2642235"/>
              <a:gd name="connsiteX13" fmla="*/ 8746708 w 10693400"/>
              <a:gd name="connsiteY13" fmla="*/ 2642235 h 2642235"/>
              <a:gd name="connsiteX14" fmla="*/ 8746708 w 10693400"/>
              <a:gd name="connsiteY14" fmla="*/ 1058263 h 2642235"/>
              <a:gd name="connsiteX15" fmla="*/ 8265268 w 10693400"/>
              <a:gd name="connsiteY15" fmla="*/ 1058263 h 2642235"/>
              <a:gd name="connsiteX16" fmla="*/ 8265268 w 10693400"/>
              <a:gd name="connsiteY16" fmla="*/ 2642235 h 2642235"/>
              <a:gd name="connsiteX17" fmla="*/ 0 w 10693400"/>
              <a:gd name="connsiteY17" fmla="*/ 2642235 h 2642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693400" h="2642235">
                <a:moveTo>
                  <a:pt x="10216470" y="0"/>
                </a:moveTo>
                <a:lnTo>
                  <a:pt x="10693400" y="0"/>
                </a:lnTo>
                <a:lnTo>
                  <a:pt x="10693400" y="1058263"/>
                </a:lnTo>
                <a:lnTo>
                  <a:pt x="10216470" y="1058263"/>
                </a:lnTo>
                <a:close/>
                <a:moveTo>
                  <a:pt x="0" y="0"/>
                </a:moveTo>
                <a:lnTo>
                  <a:pt x="9728668" y="0"/>
                </a:lnTo>
                <a:lnTo>
                  <a:pt x="9728668" y="1058270"/>
                </a:lnTo>
                <a:lnTo>
                  <a:pt x="10216470" y="1058270"/>
                </a:lnTo>
                <a:lnTo>
                  <a:pt x="10216470" y="2642235"/>
                </a:lnTo>
                <a:lnTo>
                  <a:pt x="9722305" y="2642235"/>
                </a:lnTo>
                <a:lnTo>
                  <a:pt x="9722305" y="1058263"/>
                </a:lnTo>
                <a:lnTo>
                  <a:pt x="9240865" y="1058263"/>
                </a:lnTo>
                <a:lnTo>
                  <a:pt x="9240865" y="2642235"/>
                </a:lnTo>
                <a:lnTo>
                  <a:pt x="8746708" y="2642235"/>
                </a:lnTo>
                <a:lnTo>
                  <a:pt x="8746708" y="1058263"/>
                </a:lnTo>
                <a:lnTo>
                  <a:pt x="8265268" y="1058263"/>
                </a:lnTo>
                <a:lnTo>
                  <a:pt x="8265268" y="2642235"/>
                </a:lnTo>
                <a:lnTo>
                  <a:pt x="0" y="264223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B1479A-FAA5-D20B-A06D-FC0A755222A3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731839" y="4453258"/>
            <a:ext cx="9756773" cy="904558"/>
          </a:xfrm>
        </p:spPr>
        <p:txBody>
          <a:bodyPr anchor="t"/>
          <a:lstStyle>
            <a:lvl1pPr algn="l">
              <a:defRPr sz="3000" cap="none" spc="50"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F8A4821-A7F0-6CD3-4C0A-DE182B34D3FE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31839" y="5465924"/>
            <a:ext cx="9756774" cy="595512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006CBD9-9BFA-DEA5-F0DE-8CCBF505B0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11" y="208799"/>
            <a:ext cx="2477821" cy="828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0202F77-0B10-98F2-4649-44D08051401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414" y="204788"/>
            <a:ext cx="115534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665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07690E8C-6ADF-88D3-02DD-56A82DC07FF2}"/>
              </a:ext>
            </a:extLst>
          </p:cNvPr>
          <p:cNvSpPr/>
          <p:nvPr userDrawn="1"/>
        </p:nvSpPr>
        <p:spPr bwMode="ltGray">
          <a:xfrm>
            <a:off x="263525" y="1304925"/>
            <a:ext cx="10693400" cy="5292725"/>
          </a:xfrm>
          <a:custGeom>
            <a:avLst/>
            <a:gdLst>
              <a:gd name="connsiteX0" fmla="*/ 10216470 w 10693400"/>
              <a:gd name="connsiteY0" fmla="*/ 0 h 5292725"/>
              <a:gd name="connsiteX1" fmla="*/ 10693400 w 10693400"/>
              <a:gd name="connsiteY1" fmla="*/ 0 h 5292725"/>
              <a:gd name="connsiteX2" fmla="*/ 10693400 w 10693400"/>
              <a:gd name="connsiteY2" fmla="*/ 2124075 h 5292725"/>
              <a:gd name="connsiteX3" fmla="*/ 10216470 w 10693400"/>
              <a:gd name="connsiteY3" fmla="*/ 2124075 h 5292725"/>
              <a:gd name="connsiteX4" fmla="*/ 0 w 10693400"/>
              <a:gd name="connsiteY4" fmla="*/ 0 h 5292725"/>
              <a:gd name="connsiteX5" fmla="*/ 9728668 w 10693400"/>
              <a:gd name="connsiteY5" fmla="*/ 0 h 5292725"/>
              <a:gd name="connsiteX6" fmla="*/ 9728668 w 10693400"/>
              <a:gd name="connsiteY6" fmla="*/ 2124075 h 5292725"/>
              <a:gd name="connsiteX7" fmla="*/ 10216470 w 10693400"/>
              <a:gd name="connsiteY7" fmla="*/ 2124075 h 5292725"/>
              <a:gd name="connsiteX8" fmla="*/ 10216470 w 10693400"/>
              <a:gd name="connsiteY8" fmla="*/ 5292725 h 5292725"/>
              <a:gd name="connsiteX9" fmla="*/ 9722305 w 10693400"/>
              <a:gd name="connsiteY9" fmla="*/ 5292725 h 5292725"/>
              <a:gd name="connsiteX10" fmla="*/ 9722305 w 10693400"/>
              <a:gd name="connsiteY10" fmla="*/ 2124075 h 5292725"/>
              <a:gd name="connsiteX11" fmla="*/ 9240865 w 10693400"/>
              <a:gd name="connsiteY11" fmla="*/ 2124075 h 5292725"/>
              <a:gd name="connsiteX12" fmla="*/ 9240865 w 10693400"/>
              <a:gd name="connsiteY12" fmla="*/ 5292725 h 5292725"/>
              <a:gd name="connsiteX13" fmla="*/ 0 w 10693400"/>
              <a:gd name="connsiteY13" fmla="*/ 5292725 h 529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93400" h="5292725">
                <a:moveTo>
                  <a:pt x="10216470" y="0"/>
                </a:moveTo>
                <a:lnTo>
                  <a:pt x="10693400" y="0"/>
                </a:lnTo>
                <a:lnTo>
                  <a:pt x="10693400" y="2124075"/>
                </a:lnTo>
                <a:lnTo>
                  <a:pt x="10216470" y="2124075"/>
                </a:lnTo>
                <a:close/>
                <a:moveTo>
                  <a:pt x="0" y="0"/>
                </a:moveTo>
                <a:lnTo>
                  <a:pt x="9728668" y="0"/>
                </a:lnTo>
                <a:lnTo>
                  <a:pt x="9728668" y="2124075"/>
                </a:lnTo>
                <a:lnTo>
                  <a:pt x="10216470" y="2124075"/>
                </a:lnTo>
                <a:lnTo>
                  <a:pt x="10216470" y="5292725"/>
                </a:lnTo>
                <a:lnTo>
                  <a:pt x="9722305" y="5292725"/>
                </a:lnTo>
                <a:lnTo>
                  <a:pt x="9722305" y="2124075"/>
                </a:lnTo>
                <a:lnTo>
                  <a:pt x="9240865" y="2124075"/>
                </a:lnTo>
                <a:lnTo>
                  <a:pt x="9240865" y="5292725"/>
                </a:lnTo>
                <a:lnTo>
                  <a:pt x="0" y="529272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B1479A-FAA5-D20B-A06D-FC0A755222A3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982663" y="1844675"/>
            <a:ext cx="7200000" cy="1666875"/>
          </a:xfrm>
        </p:spPr>
        <p:txBody>
          <a:bodyPr anchor="b"/>
          <a:lstStyle>
            <a:lvl1pPr algn="l">
              <a:defRPr sz="3000" cap="none" spc="50"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F8A4821-A7F0-6CD3-4C0A-DE182B34D3FE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982663" y="3677549"/>
            <a:ext cx="7200000" cy="1131727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22BBA00-6D35-2307-66C4-DA49159550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11" y="208799"/>
            <a:ext cx="2477821" cy="828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8D03CADF-AE5E-324D-AD07-F6FEF9E2C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414" y="204788"/>
            <a:ext cx="115534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53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043B9E88-907B-D35C-DB3B-1D71C1CE5940}"/>
              </a:ext>
            </a:extLst>
          </p:cNvPr>
          <p:cNvSpPr/>
          <p:nvPr userDrawn="1"/>
        </p:nvSpPr>
        <p:spPr bwMode="ltGray">
          <a:xfrm>
            <a:off x="263525" y="1304925"/>
            <a:ext cx="10693400" cy="5292725"/>
          </a:xfrm>
          <a:custGeom>
            <a:avLst/>
            <a:gdLst>
              <a:gd name="connsiteX0" fmla="*/ 9722304 w 10693400"/>
              <a:gd name="connsiteY0" fmla="*/ 0 h 5292725"/>
              <a:gd name="connsiteX1" fmla="*/ 10693400 w 10693400"/>
              <a:gd name="connsiteY1" fmla="*/ 0 h 5292725"/>
              <a:gd name="connsiteX2" fmla="*/ 10693400 w 10693400"/>
              <a:gd name="connsiteY2" fmla="*/ 3179137 h 5292725"/>
              <a:gd name="connsiteX3" fmla="*/ 9728666 w 10693400"/>
              <a:gd name="connsiteY3" fmla="*/ 3179137 h 5292725"/>
              <a:gd name="connsiteX4" fmla="*/ 9728666 w 10693400"/>
              <a:gd name="connsiteY4" fmla="*/ 5292725 h 5292725"/>
              <a:gd name="connsiteX5" fmla="*/ 9240865 w 10693400"/>
              <a:gd name="connsiteY5" fmla="*/ 5292725 h 5292725"/>
              <a:gd name="connsiteX6" fmla="*/ 9240865 w 10693400"/>
              <a:gd name="connsiteY6" fmla="*/ 3179140 h 5292725"/>
              <a:gd name="connsiteX7" fmla="*/ 9722304 w 10693400"/>
              <a:gd name="connsiteY7" fmla="*/ 3179140 h 5292725"/>
              <a:gd name="connsiteX8" fmla="*/ 0 w 10693400"/>
              <a:gd name="connsiteY8" fmla="*/ 0 h 5292725"/>
              <a:gd name="connsiteX9" fmla="*/ 9240864 w 10693400"/>
              <a:gd name="connsiteY9" fmla="*/ 0 h 5292725"/>
              <a:gd name="connsiteX10" fmla="*/ 9240864 w 10693400"/>
              <a:gd name="connsiteY10" fmla="*/ 3179136 h 5292725"/>
              <a:gd name="connsiteX11" fmla="*/ 8265267 w 10693400"/>
              <a:gd name="connsiteY11" fmla="*/ 3179136 h 5292725"/>
              <a:gd name="connsiteX12" fmla="*/ 8265267 w 10693400"/>
              <a:gd name="connsiteY12" fmla="*/ 5292725 h 5292725"/>
              <a:gd name="connsiteX13" fmla="*/ 0 w 10693400"/>
              <a:gd name="connsiteY13" fmla="*/ 5292725 h 529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93400" h="5292725">
                <a:moveTo>
                  <a:pt x="9722304" y="0"/>
                </a:moveTo>
                <a:lnTo>
                  <a:pt x="10693400" y="0"/>
                </a:lnTo>
                <a:lnTo>
                  <a:pt x="10693400" y="3179137"/>
                </a:lnTo>
                <a:lnTo>
                  <a:pt x="9728666" y="3179137"/>
                </a:lnTo>
                <a:lnTo>
                  <a:pt x="9728666" y="5292725"/>
                </a:lnTo>
                <a:lnTo>
                  <a:pt x="9240865" y="5292725"/>
                </a:lnTo>
                <a:lnTo>
                  <a:pt x="9240865" y="3179140"/>
                </a:lnTo>
                <a:lnTo>
                  <a:pt x="9722304" y="3179140"/>
                </a:lnTo>
                <a:close/>
                <a:moveTo>
                  <a:pt x="0" y="0"/>
                </a:moveTo>
                <a:lnTo>
                  <a:pt x="9240864" y="0"/>
                </a:lnTo>
                <a:lnTo>
                  <a:pt x="9240864" y="3179136"/>
                </a:lnTo>
                <a:lnTo>
                  <a:pt x="8265267" y="3179136"/>
                </a:lnTo>
                <a:lnTo>
                  <a:pt x="8265267" y="5292725"/>
                </a:lnTo>
                <a:lnTo>
                  <a:pt x="0" y="529272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B1479A-FAA5-D20B-A06D-FC0A755222A3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982663" y="1844675"/>
            <a:ext cx="7200000" cy="1666875"/>
          </a:xfrm>
        </p:spPr>
        <p:txBody>
          <a:bodyPr anchor="b"/>
          <a:lstStyle>
            <a:lvl1pPr algn="l">
              <a:defRPr sz="3000" cap="none" spc="50"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F8A4821-A7F0-6CD3-4C0A-DE182B34D3FE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982663" y="3677549"/>
            <a:ext cx="7200000" cy="1131727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45A12EA-2065-C2E3-32A4-8A12212334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11" y="208799"/>
            <a:ext cx="2477821" cy="828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31FAE31-E121-977E-1BDA-64CBD8C114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414" y="204788"/>
            <a:ext cx="115534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981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ihandform: Form 22">
            <a:extLst>
              <a:ext uri="{FF2B5EF4-FFF2-40B4-BE49-F238E27FC236}">
                <a16:creationId xmlns:a16="http://schemas.microsoft.com/office/drawing/2014/main" id="{0EC58BCB-4168-C9FD-E169-C7AB9C2C9D2D}"/>
              </a:ext>
            </a:extLst>
          </p:cNvPr>
          <p:cNvSpPr/>
          <p:nvPr userDrawn="1"/>
        </p:nvSpPr>
        <p:spPr bwMode="gray">
          <a:xfrm>
            <a:off x="263525" y="1304925"/>
            <a:ext cx="10693400" cy="5292725"/>
          </a:xfrm>
          <a:custGeom>
            <a:avLst/>
            <a:gdLst>
              <a:gd name="connsiteX0" fmla="*/ 10211962 w 10693400"/>
              <a:gd name="connsiteY0" fmla="*/ 0 h 5292725"/>
              <a:gd name="connsiteX1" fmla="*/ 10693400 w 10693400"/>
              <a:gd name="connsiteY1" fmla="*/ 0 h 5292725"/>
              <a:gd name="connsiteX2" fmla="*/ 10693400 w 10693400"/>
              <a:gd name="connsiteY2" fmla="*/ 2124075 h 5292725"/>
              <a:gd name="connsiteX3" fmla="*/ 10216469 w 10693400"/>
              <a:gd name="connsiteY3" fmla="*/ 2124075 h 5292725"/>
              <a:gd name="connsiteX4" fmla="*/ 10216469 w 10693400"/>
              <a:gd name="connsiteY4" fmla="*/ 5292725 h 5292725"/>
              <a:gd name="connsiteX5" fmla="*/ 9240865 w 10693400"/>
              <a:gd name="connsiteY5" fmla="*/ 5292725 h 5292725"/>
              <a:gd name="connsiteX6" fmla="*/ 9240865 w 10693400"/>
              <a:gd name="connsiteY6" fmla="*/ 2124076 h 5292725"/>
              <a:gd name="connsiteX7" fmla="*/ 10211962 w 10693400"/>
              <a:gd name="connsiteY7" fmla="*/ 2124076 h 5292725"/>
              <a:gd name="connsiteX8" fmla="*/ 0 w 10693400"/>
              <a:gd name="connsiteY8" fmla="*/ 0 h 5292725"/>
              <a:gd name="connsiteX9" fmla="*/ 9240864 w 10693400"/>
              <a:gd name="connsiteY9" fmla="*/ 0 h 5292725"/>
              <a:gd name="connsiteX10" fmla="*/ 9240864 w 10693400"/>
              <a:gd name="connsiteY10" fmla="*/ 2124073 h 5292725"/>
              <a:gd name="connsiteX11" fmla="*/ 8265267 w 10693400"/>
              <a:gd name="connsiteY11" fmla="*/ 2124073 h 5292725"/>
              <a:gd name="connsiteX12" fmla="*/ 8265267 w 10693400"/>
              <a:gd name="connsiteY12" fmla="*/ 5292725 h 5292725"/>
              <a:gd name="connsiteX13" fmla="*/ 0 w 10693400"/>
              <a:gd name="connsiteY13" fmla="*/ 5292725 h 529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93400" h="5292725">
                <a:moveTo>
                  <a:pt x="10211962" y="0"/>
                </a:moveTo>
                <a:lnTo>
                  <a:pt x="10693400" y="0"/>
                </a:lnTo>
                <a:lnTo>
                  <a:pt x="10693400" y="2124075"/>
                </a:lnTo>
                <a:lnTo>
                  <a:pt x="10216469" y="2124075"/>
                </a:lnTo>
                <a:lnTo>
                  <a:pt x="10216469" y="5292725"/>
                </a:lnTo>
                <a:lnTo>
                  <a:pt x="9240865" y="5292725"/>
                </a:lnTo>
                <a:lnTo>
                  <a:pt x="9240865" y="2124076"/>
                </a:lnTo>
                <a:lnTo>
                  <a:pt x="10211962" y="2124076"/>
                </a:lnTo>
                <a:close/>
                <a:moveTo>
                  <a:pt x="0" y="0"/>
                </a:moveTo>
                <a:lnTo>
                  <a:pt x="9240864" y="0"/>
                </a:lnTo>
                <a:lnTo>
                  <a:pt x="9240864" y="2124073"/>
                </a:lnTo>
                <a:lnTo>
                  <a:pt x="8265267" y="2124073"/>
                </a:lnTo>
                <a:lnTo>
                  <a:pt x="8265267" y="5292725"/>
                </a:lnTo>
                <a:lnTo>
                  <a:pt x="0" y="529272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B1479A-FAA5-D20B-A06D-FC0A755222A3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982663" y="1844675"/>
            <a:ext cx="7200000" cy="1666875"/>
          </a:xfrm>
        </p:spPr>
        <p:txBody>
          <a:bodyPr anchor="b"/>
          <a:lstStyle>
            <a:lvl1pPr algn="l">
              <a:defRPr sz="3000" cap="none" spc="50"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F8A4821-A7F0-6CD3-4C0A-DE182B34D3FE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982663" y="3677549"/>
            <a:ext cx="7200000" cy="1131727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B3DE488-5020-2FA5-1F44-824CECF216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11" y="208799"/>
            <a:ext cx="2477821" cy="828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DC1A12C-616D-6CF5-B449-CAE04E73E5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414" y="204788"/>
            <a:ext cx="115534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518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595810B9-2703-2B39-FC61-AB5690FFB2EA}"/>
              </a:ext>
            </a:extLst>
          </p:cNvPr>
          <p:cNvSpPr/>
          <p:nvPr userDrawn="1"/>
        </p:nvSpPr>
        <p:spPr bwMode="ltGray">
          <a:xfrm>
            <a:off x="263525" y="1304925"/>
            <a:ext cx="10693400" cy="5292725"/>
          </a:xfrm>
          <a:custGeom>
            <a:avLst/>
            <a:gdLst>
              <a:gd name="connsiteX0" fmla="*/ 9240865 w 10693400"/>
              <a:gd name="connsiteY0" fmla="*/ 2124077 h 5292725"/>
              <a:gd name="connsiteX1" fmla="*/ 9722304 w 10693400"/>
              <a:gd name="connsiteY1" fmla="*/ 2124077 h 5292725"/>
              <a:gd name="connsiteX2" fmla="*/ 9722304 w 10693400"/>
              <a:gd name="connsiteY2" fmla="*/ 5292725 h 5292725"/>
              <a:gd name="connsiteX3" fmla="*/ 9240865 w 10693400"/>
              <a:gd name="connsiteY3" fmla="*/ 5292725 h 5292725"/>
              <a:gd name="connsiteX4" fmla="*/ 9722305 w 10693400"/>
              <a:gd name="connsiteY4" fmla="*/ 0 h 5292725"/>
              <a:gd name="connsiteX5" fmla="*/ 10693400 w 10693400"/>
              <a:gd name="connsiteY5" fmla="*/ 0 h 5292725"/>
              <a:gd name="connsiteX6" fmla="*/ 10693400 w 10693400"/>
              <a:gd name="connsiteY6" fmla="*/ 2124075 h 5292725"/>
              <a:gd name="connsiteX7" fmla="*/ 9722305 w 10693400"/>
              <a:gd name="connsiteY7" fmla="*/ 2124075 h 5292725"/>
              <a:gd name="connsiteX8" fmla="*/ 8746708 w 10693400"/>
              <a:gd name="connsiteY8" fmla="*/ 0 h 5292725"/>
              <a:gd name="connsiteX9" fmla="*/ 9240865 w 10693400"/>
              <a:gd name="connsiteY9" fmla="*/ 0 h 5292725"/>
              <a:gd name="connsiteX10" fmla="*/ 9240865 w 10693400"/>
              <a:gd name="connsiteY10" fmla="*/ 2124074 h 5292725"/>
              <a:gd name="connsiteX11" fmla="*/ 8746708 w 10693400"/>
              <a:gd name="connsiteY11" fmla="*/ 2124074 h 5292725"/>
              <a:gd name="connsiteX12" fmla="*/ 0 w 10693400"/>
              <a:gd name="connsiteY12" fmla="*/ 0 h 5292725"/>
              <a:gd name="connsiteX13" fmla="*/ 8265268 w 10693400"/>
              <a:gd name="connsiteY13" fmla="*/ 0 h 5292725"/>
              <a:gd name="connsiteX14" fmla="*/ 8265268 w 10693400"/>
              <a:gd name="connsiteY14" fmla="*/ 2124076 h 5292725"/>
              <a:gd name="connsiteX15" fmla="*/ 8742198 w 10693400"/>
              <a:gd name="connsiteY15" fmla="*/ 2124076 h 5292725"/>
              <a:gd name="connsiteX16" fmla="*/ 8742198 w 10693400"/>
              <a:gd name="connsiteY16" fmla="*/ 5292725 h 5292725"/>
              <a:gd name="connsiteX17" fmla="*/ 0 w 10693400"/>
              <a:gd name="connsiteY17" fmla="*/ 5292725 h 529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693400" h="5292725">
                <a:moveTo>
                  <a:pt x="9240865" y="2124077"/>
                </a:moveTo>
                <a:lnTo>
                  <a:pt x="9722304" y="2124077"/>
                </a:lnTo>
                <a:lnTo>
                  <a:pt x="9722304" y="5292725"/>
                </a:lnTo>
                <a:lnTo>
                  <a:pt x="9240865" y="5292725"/>
                </a:lnTo>
                <a:close/>
                <a:moveTo>
                  <a:pt x="9722305" y="0"/>
                </a:moveTo>
                <a:lnTo>
                  <a:pt x="10693400" y="0"/>
                </a:lnTo>
                <a:lnTo>
                  <a:pt x="10693400" y="2124075"/>
                </a:lnTo>
                <a:lnTo>
                  <a:pt x="9722305" y="2124075"/>
                </a:lnTo>
                <a:close/>
                <a:moveTo>
                  <a:pt x="8746708" y="0"/>
                </a:moveTo>
                <a:lnTo>
                  <a:pt x="9240865" y="0"/>
                </a:lnTo>
                <a:lnTo>
                  <a:pt x="9240865" y="2124074"/>
                </a:lnTo>
                <a:lnTo>
                  <a:pt x="8746708" y="2124074"/>
                </a:lnTo>
                <a:close/>
                <a:moveTo>
                  <a:pt x="0" y="0"/>
                </a:moveTo>
                <a:lnTo>
                  <a:pt x="8265268" y="0"/>
                </a:lnTo>
                <a:lnTo>
                  <a:pt x="8265268" y="2124076"/>
                </a:lnTo>
                <a:lnTo>
                  <a:pt x="8742198" y="2124076"/>
                </a:lnTo>
                <a:lnTo>
                  <a:pt x="8742198" y="5292725"/>
                </a:lnTo>
                <a:lnTo>
                  <a:pt x="0" y="52927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B1479A-FAA5-D20B-A06D-FC0A755222A3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982662" y="1844675"/>
            <a:ext cx="7200000" cy="1666875"/>
          </a:xfrm>
        </p:spPr>
        <p:txBody>
          <a:bodyPr anchor="b"/>
          <a:lstStyle>
            <a:lvl1pPr algn="l">
              <a:defRPr sz="3000" cap="none" spc="50"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F8A4821-A7F0-6CD3-4C0A-DE182B34D3FE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982663" y="3677549"/>
            <a:ext cx="7200000" cy="1131727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68E3449-9216-E16E-D0E6-5AE2BF8E9D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11" y="208799"/>
            <a:ext cx="2477821" cy="828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4F8E6D2-B475-8547-4543-C90A99C242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414" y="204788"/>
            <a:ext cx="115534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55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B255AAA4-A63F-294C-B32E-900D2008339D}"/>
              </a:ext>
            </a:extLst>
          </p:cNvPr>
          <p:cNvSpPr/>
          <p:nvPr userDrawn="1"/>
        </p:nvSpPr>
        <p:spPr bwMode="gray">
          <a:xfrm>
            <a:off x="263525" y="1304925"/>
            <a:ext cx="10693400" cy="5292725"/>
          </a:xfrm>
          <a:custGeom>
            <a:avLst/>
            <a:gdLst>
              <a:gd name="connsiteX0" fmla="*/ 10216462 w 10693400"/>
              <a:gd name="connsiteY0" fmla="*/ 0 h 5292725"/>
              <a:gd name="connsiteX1" fmla="*/ 10693400 w 10693400"/>
              <a:gd name="connsiteY1" fmla="*/ 0 h 5292725"/>
              <a:gd name="connsiteX2" fmla="*/ 10693400 w 10693400"/>
              <a:gd name="connsiteY2" fmla="*/ 3179135 h 5292725"/>
              <a:gd name="connsiteX3" fmla="*/ 10216469 w 10693400"/>
              <a:gd name="connsiteY3" fmla="*/ 3179135 h 5292725"/>
              <a:gd name="connsiteX4" fmla="*/ 10216469 w 10693400"/>
              <a:gd name="connsiteY4" fmla="*/ 5292725 h 5292725"/>
              <a:gd name="connsiteX5" fmla="*/ 9739527 w 10693400"/>
              <a:gd name="connsiteY5" fmla="*/ 5292725 h 5292725"/>
              <a:gd name="connsiteX6" fmla="*/ 9739527 w 10693400"/>
              <a:gd name="connsiteY6" fmla="*/ 3179140 h 5292725"/>
              <a:gd name="connsiteX7" fmla="*/ 10216462 w 10693400"/>
              <a:gd name="connsiteY7" fmla="*/ 3179140 h 5292725"/>
              <a:gd name="connsiteX8" fmla="*/ 9240864 w 10693400"/>
              <a:gd name="connsiteY8" fmla="*/ 0 h 5292725"/>
              <a:gd name="connsiteX9" fmla="*/ 9739527 w 10693400"/>
              <a:gd name="connsiteY9" fmla="*/ 0 h 5292725"/>
              <a:gd name="connsiteX10" fmla="*/ 9739527 w 10693400"/>
              <a:gd name="connsiteY10" fmla="*/ 3179136 h 5292725"/>
              <a:gd name="connsiteX11" fmla="*/ 9240864 w 10693400"/>
              <a:gd name="connsiteY11" fmla="*/ 3179136 h 5292725"/>
              <a:gd name="connsiteX12" fmla="*/ 0 w 10693400"/>
              <a:gd name="connsiteY12" fmla="*/ 0 h 5292725"/>
              <a:gd name="connsiteX13" fmla="*/ 8742197 w 10693400"/>
              <a:gd name="connsiteY13" fmla="*/ 0 h 5292725"/>
              <a:gd name="connsiteX14" fmla="*/ 8742197 w 10693400"/>
              <a:gd name="connsiteY14" fmla="*/ 3179136 h 5292725"/>
              <a:gd name="connsiteX15" fmla="*/ 9240861 w 10693400"/>
              <a:gd name="connsiteY15" fmla="*/ 3179136 h 5292725"/>
              <a:gd name="connsiteX16" fmla="*/ 9240861 w 10693400"/>
              <a:gd name="connsiteY16" fmla="*/ 5292725 h 5292725"/>
              <a:gd name="connsiteX17" fmla="*/ 0 w 10693400"/>
              <a:gd name="connsiteY17" fmla="*/ 5292725 h 529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693400" h="5292725">
                <a:moveTo>
                  <a:pt x="10216462" y="0"/>
                </a:moveTo>
                <a:lnTo>
                  <a:pt x="10693400" y="0"/>
                </a:lnTo>
                <a:lnTo>
                  <a:pt x="10693400" y="3179135"/>
                </a:lnTo>
                <a:lnTo>
                  <a:pt x="10216469" y="3179135"/>
                </a:lnTo>
                <a:lnTo>
                  <a:pt x="10216469" y="5292725"/>
                </a:lnTo>
                <a:lnTo>
                  <a:pt x="9739527" y="5292725"/>
                </a:lnTo>
                <a:lnTo>
                  <a:pt x="9739527" y="3179140"/>
                </a:lnTo>
                <a:lnTo>
                  <a:pt x="10216462" y="3179140"/>
                </a:lnTo>
                <a:close/>
                <a:moveTo>
                  <a:pt x="9240864" y="0"/>
                </a:moveTo>
                <a:lnTo>
                  <a:pt x="9739527" y="0"/>
                </a:lnTo>
                <a:lnTo>
                  <a:pt x="9739527" y="3179136"/>
                </a:lnTo>
                <a:lnTo>
                  <a:pt x="9240864" y="3179136"/>
                </a:lnTo>
                <a:close/>
                <a:moveTo>
                  <a:pt x="0" y="0"/>
                </a:moveTo>
                <a:lnTo>
                  <a:pt x="8742197" y="0"/>
                </a:lnTo>
                <a:lnTo>
                  <a:pt x="8742197" y="3179136"/>
                </a:lnTo>
                <a:lnTo>
                  <a:pt x="9240861" y="3179136"/>
                </a:lnTo>
                <a:lnTo>
                  <a:pt x="9240861" y="5292725"/>
                </a:lnTo>
                <a:lnTo>
                  <a:pt x="0" y="52927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B1479A-FAA5-D20B-A06D-FC0A755222A3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982663" y="1844675"/>
            <a:ext cx="7200000" cy="1666875"/>
          </a:xfrm>
        </p:spPr>
        <p:txBody>
          <a:bodyPr anchor="b"/>
          <a:lstStyle>
            <a:lvl1pPr algn="l">
              <a:defRPr sz="3000" cap="none" spc="50"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F8A4821-A7F0-6CD3-4C0A-DE182B34D3FE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982663" y="3677549"/>
            <a:ext cx="7200000" cy="1131727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EC21073-32FD-A544-C94E-BA56D19263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11" y="208799"/>
            <a:ext cx="2477821" cy="828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848214C-19DA-EBB3-0F96-F3D14C462B0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414" y="204788"/>
            <a:ext cx="115534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879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AD7928B-877F-506D-260A-57C787CE43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982663" y="1935480"/>
            <a:ext cx="9974262" cy="4338320"/>
          </a:xfrm>
        </p:spPr>
        <p:txBody>
          <a:bodyPr/>
          <a:lstStyle>
            <a:lvl1pPr marL="625475" indent="-625475">
              <a:buFont typeface="+mj-lt"/>
              <a:buAutoNum type="arabicPeriod"/>
              <a:defRPr/>
            </a:lvl1pPr>
            <a:lvl2pPr marL="860425" indent="-228600">
              <a:defRPr/>
            </a:lvl2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14B75B-BA6C-02AD-00E9-4DD8D75CD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6481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6A9C58-8B21-7CDA-872D-2AD5DC1E579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3AC522-156C-C82B-C242-FC112ECAB60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982663" y="1844676"/>
            <a:ext cx="9974262" cy="4429124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24519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(lang)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6A9C58-8B21-7CDA-872D-2AD5DC1E579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2662" y="1252855"/>
            <a:ext cx="9974263" cy="882016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3AC522-156C-C82B-C242-FC112ECAB60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982663" y="2378074"/>
            <a:ext cx="9974262" cy="3895726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1448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C35FAA-4A1C-51DA-94FC-0961273B195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539180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au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F03FEA57-7128-BD6F-8626-8C3232C9C957}"/>
              </a:ext>
            </a:extLst>
          </p:cNvPr>
          <p:cNvSpPr/>
          <p:nvPr userDrawn="1"/>
        </p:nvSpPr>
        <p:spPr bwMode="gray">
          <a:xfrm>
            <a:off x="263525" y="908050"/>
            <a:ext cx="11664950" cy="53657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9C35FAA-4A1C-51DA-94FC-0961273B195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BE7EFA-D5CB-7D65-5BF2-C14A60BBA5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982663" y="1844675"/>
            <a:ext cx="9974262" cy="357505"/>
          </a:xfrm>
        </p:spPr>
        <p:txBody>
          <a:bodyPr/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76943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aubi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C35FAA-4A1C-51DA-94FC-0961273B195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BE7EFA-D5CB-7D65-5BF2-C14A60BBA5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982663" y="1844675"/>
            <a:ext cx="9974262" cy="357505"/>
          </a:xfrm>
        </p:spPr>
        <p:txBody>
          <a:bodyPr/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545297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8">
            <a:extLst>
              <a:ext uri="{FF2B5EF4-FFF2-40B4-BE49-F238E27FC236}">
                <a16:creationId xmlns:a16="http://schemas.microsoft.com/office/drawing/2014/main" id="{61B96E6A-B586-2A48-AA85-3074EEEC38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243071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X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8">
            <a:extLst>
              <a:ext uri="{FF2B5EF4-FFF2-40B4-BE49-F238E27FC236}">
                <a16:creationId xmlns:a16="http://schemas.microsoft.com/office/drawing/2014/main" id="{61B96E6A-B586-2A48-AA85-3074EEEC38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63524" y="908050"/>
            <a:ext cx="9737726" cy="536575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0918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X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3C37D809-1ECE-6999-33B0-22173DC8EA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63523" y="908050"/>
            <a:ext cx="11664951" cy="5365750"/>
          </a:xfrm>
          <a:custGeom>
            <a:avLst/>
            <a:gdLst>
              <a:gd name="connsiteX0" fmla="*/ 0 w 11664951"/>
              <a:gd name="connsiteY0" fmla="*/ 3568733 h 5365750"/>
              <a:gd name="connsiteX1" fmla="*/ 478419 w 11664951"/>
              <a:gd name="connsiteY1" fmla="*/ 3568733 h 5365750"/>
              <a:gd name="connsiteX2" fmla="*/ 478419 w 11664951"/>
              <a:gd name="connsiteY2" fmla="*/ 5365750 h 5365750"/>
              <a:gd name="connsiteX3" fmla="*/ 0 w 11664951"/>
              <a:gd name="connsiteY3" fmla="*/ 5365750 h 5365750"/>
              <a:gd name="connsiteX4" fmla="*/ 0 w 11664951"/>
              <a:gd name="connsiteY4" fmla="*/ 0 h 5365750"/>
              <a:gd name="connsiteX5" fmla="*/ 11664951 w 11664951"/>
              <a:gd name="connsiteY5" fmla="*/ 0 h 5365750"/>
              <a:gd name="connsiteX6" fmla="*/ 11664951 w 11664951"/>
              <a:gd name="connsiteY6" fmla="*/ 5365750 h 5365750"/>
              <a:gd name="connsiteX7" fmla="*/ 1919718 w 11664951"/>
              <a:gd name="connsiteY7" fmla="*/ 5365750 h 5365750"/>
              <a:gd name="connsiteX8" fmla="*/ 1919718 w 11664951"/>
              <a:gd name="connsiteY8" fmla="*/ 3568726 h 5365750"/>
              <a:gd name="connsiteX9" fmla="*/ 1438278 w 11664951"/>
              <a:gd name="connsiteY9" fmla="*/ 3568726 h 5365750"/>
              <a:gd name="connsiteX10" fmla="*/ 1438278 w 11664951"/>
              <a:gd name="connsiteY10" fmla="*/ 5365750 h 5365750"/>
              <a:gd name="connsiteX11" fmla="*/ 959859 w 11664951"/>
              <a:gd name="connsiteY11" fmla="*/ 5365750 h 5365750"/>
              <a:gd name="connsiteX12" fmla="*/ 959859 w 11664951"/>
              <a:gd name="connsiteY12" fmla="*/ 3568726 h 5365750"/>
              <a:gd name="connsiteX13" fmla="*/ 478419 w 11664951"/>
              <a:gd name="connsiteY13" fmla="*/ 3568726 h 5365750"/>
              <a:gd name="connsiteX14" fmla="*/ 478419 w 11664951"/>
              <a:gd name="connsiteY14" fmla="*/ 1473172 h 5365750"/>
              <a:gd name="connsiteX15" fmla="*/ 0 w 11664951"/>
              <a:gd name="connsiteY15" fmla="*/ 1473172 h 536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664951" h="5365750">
                <a:moveTo>
                  <a:pt x="0" y="3568733"/>
                </a:moveTo>
                <a:lnTo>
                  <a:pt x="478419" y="3568733"/>
                </a:lnTo>
                <a:lnTo>
                  <a:pt x="478419" y="5365750"/>
                </a:lnTo>
                <a:lnTo>
                  <a:pt x="0" y="5365750"/>
                </a:lnTo>
                <a:close/>
                <a:moveTo>
                  <a:pt x="0" y="0"/>
                </a:moveTo>
                <a:lnTo>
                  <a:pt x="11664951" y="0"/>
                </a:lnTo>
                <a:lnTo>
                  <a:pt x="11664951" y="5365750"/>
                </a:lnTo>
                <a:lnTo>
                  <a:pt x="1919718" y="5365750"/>
                </a:lnTo>
                <a:lnTo>
                  <a:pt x="1919718" y="3568726"/>
                </a:lnTo>
                <a:lnTo>
                  <a:pt x="1438278" y="3568726"/>
                </a:lnTo>
                <a:lnTo>
                  <a:pt x="1438278" y="5365750"/>
                </a:lnTo>
                <a:lnTo>
                  <a:pt x="959859" y="5365750"/>
                </a:lnTo>
                <a:lnTo>
                  <a:pt x="959859" y="3568726"/>
                </a:lnTo>
                <a:lnTo>
                  <a:pt x="478419" y="3568726"/>
                </a:lnTo>
                <a:lnTo>
                  <a:pt x="478419" y="1473172"/>
                </a:lnTo>
                <a:lnTo>
                  <a:pt x="0" y="147317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1652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6A9C58-8B21-7CDA-872D-2AD5DC1E579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2663" y="1252855"/>
            <a:ext cx="5370512" cy="90932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97C9E030-31D9-82FF-6171-8087B4B693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6594474" y="908050"/>
            <a:ext cx="5333999" cy="536575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3B990C5-FB23-BE28-94C8-09039FDEC0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982662" y="2378074"/>
            <a:ext cx="5370511" cy="3895725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72535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8">
            <a:extLst>
              <a:ext uri="{FF2B5EF4-FFF2-40B4-BE49-F238E27FC236}">
                <a16:creationId xmlns:a16="http://schemas.microsoft.com/office/drawing/2014/main" id="{97C9E030-31D9-82FF-6171-8087B4B693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63525" y="908050"/>
            <a:ext cx="5760475" cy="489839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06022BFD-0602-58B4-2288-D5248A5D83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63525" y="5806440"/>
            <a:ext cx="5760475" cy="467360"/>
          </a:xfrm>
          <a:solidFill>
            <a:schemeClr val="accent5"/>
          </a:solidFill>
        </p:spPr>
        <p:txBody>
          <a:bodyPr lIns="108000" tIns="108000" rIns="108000" bIns="108000"/>
          <a:lstStyle>
            <a:lvl1pPr marL="0" indent="0">
              <a:lnSpc>
                <a:spcPct val="103000"/>
              </a:lnSpc>
              <a:buNone/>
              <a:defRPr sz="800" spc="10" baseline="0"/>
            </a:lvl1pPr>
          </a:lstStyle>
          <a:p>
            <a:pPr lvl="0"/>
            <a:r>
              <a:rPr lang="de-DE" dirty="0"/>
              <a:t>Bildbeschriftung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8A7BE738-6297-C70C-2B72-7A053F1E3E0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168000" y="908050"/>
            <a:ext cx="5760475" cy="489839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3C7A4867-3FB8-7D37-F741-15EAC2B4AB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168000" y="5806440"/>
            <a:ext cx="5760475" cy="467360"/>
          </a:xfrm>
          <a:solidFill>
            <a:schemeClr val="accent5"/>
          </a:solidFill>
        </p:spPr>
        <p:txBody>
          <a:bodyPr lIns="108000" tIns="108000" rIns="108000" bIns="108000"/>
          <a:lstStyle>
            <a:lvl1pPr marL="0" indent="0">
              <a:lnSpc>
                <a:spcPct val="103000"/>
              </a:lnSpc>
              <a:buNone/>
              <a:defRPr sz="800" spc="10" baseline="0"/>
            </a:lvl1pPr>
          </a:lstStyle>
          <a:p>
            <a:pPr lvl="0"/>
            <a:r>
              <a:rPr lang="de-DE" dirty="0"/>
              <a:t>Bildbeschriftung</a:t>
            </a:r>
          </a:p>
        </p:txBody>
      </p:sp>
      <p:sp>
        <p:nvSpPr>
          <p:cNvPr id="2" name="Inhaltsplatzhalter 7">
            <a:extLst>
              <a:ext uri="{FF2B5EF4-FFF2-40B4-BE49-F238E27FC236}">
                <a16:creationId xmlns:a16="http://schemas.microsoft.com/office/drawing/2014/main" id="{15E3A9A4-9996-C1A3-8DCF-2FE3F810C7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658294" y="219385"/>
            <a:ext cx="9270181" cy="285129"/>
          </a:xfrm>
        </p:spPr>
        <p:txBody>
          <a:bodyPr/>
          <a:lstStyle>
            <a:lvl1pPr marL="0" indent="0" algn="r">
              <a:buFontTx/>
              <a:buNone/>
              <a:defRPr sz="1000" baseline="0"/>
            </a:lvl1pPr>
          </a:lstStyle>
          <a:p>
            <a:pPr lvl="0"/>
            <a:r>
              <a:rPr lang="de-DE" dirty="0"/>
              <a:t>Name des Kapitels einfügen</a:t>
            </a:r>
          </a:p>
        </p:txBody>
      </p:sp>
    </p:spTree>
    <p:extLst>
      <p:ext uri="{BB962C8B-B14F-4D97-AF65-F5344CB8AC3E}">
        <p14:creationId xmlns:p14="http://schemas.microsoft.com/office/powerpoint/2010/main" val="4665146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8">
            <a:extLst>
              <a:ext uri="{FF2B5EF4-FFF2-40B4-BE49-F238E27FC236}">
                <a16:creationId xmlns:a16="http://schemas.microsoft.com/office/drawing/2014/main" id="{97C9E030-31D9-82FF-6171-8087B4B693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63525" y="908050"/>
            <a:ext cx="3794857" cy="489839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06022BFD-0602-58B4-2288-D5248A5D83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63525" y="5806440"/>
            <a:ext cx="3794857" cy="467360"/>
          </a:xfrm>
          <a:solidFill>
            <a:schemeClr val="accent5"/>
          </a:solidFill>
        </p:spPr>
        <p:txBody>
          <a:bodyPr lIns="108000" tIns="108000" rIns="108000" bIns="108000"/>
          <a:lstStyle>
            <a:lvl1pPr marL="0" indent="0">
              <a:lnSpc>
                <a:spcPct val="103000"/>
              </a:lnSpc>
              <a:buNone/>
              <a:defRPr sz="800" spc="10" baseline="0"/>
            </a:lvl1pPr>
          </a:lstStyle>
          <a:p>
            <a:pPr lvl="0"/>
            <a:r>
              <a:rPr lang="de-DE" dirty="0"/>
              <a:t>Bildbeschriftung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8A7BE738-6297-C70C-2B72-7A053F1E3E0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4202382" y="908050"/>
            <a:ext cx="3787237" cy="489839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3C7A4867-3FB8-7D37-F741-15EAC2B4AB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202382" y="5806440"/>
            <a:ext cx="3787237" cy="467360"/>
          </a:xfrm>
          <a:solidFill>
            <a:schemeClr val="accent5"/>
          </a:solidFill>
        </p:spPr>
        <p:txBody>
          <a:bodyPr lIns="108000" tIns="108000" rIns="108000" bIns="108000"/>
          <a:lstStyle>
            <a:lvl1pPr marL="0" indent="0">
              <a:lnSpc>
                <a:spcPct val="103000"/>
              </a:lnSpc>
              <a:buNone/>
              <a:defRPr sz="800" spc="10" baseline="0"/>
            </a:lvl1pPr>
          </a:lstStyle>
          <a:p>
            <a:pPr lvl="0"/>
            <a:r>
              <a:rPr lang="de-DE" dirty="0"/>
              <a:t>Bildbeschriftung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5D2191B9-3DBD-5457-7E20-DECDDFDBB18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8133619" y="908050"/>
            <a:ext cx="3794856" cy="489839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06C1E689-6793-F75F-1130-662C849D48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33619" y="5806440"/>
            <a:ext cx="3794856" cy="467360"/>
          </a:xfrm>
          <a:solidFill>
            <a:schemeClr val="accent5"/>
          </a:solidFill>
        </p:spPr>
        <p:txBody>
          <a:bodyPr lIns="108000" tIns="108000" rIns="108000" bIns="108000"/>
          <a:lstStyle>
            <a:lvl1pPr marL="0" indent="0">
              <a:lnSpc>
                <a:spcPct val="103000"/>
              </a:lnSpc>
              <a:buNone/>
              <a:defRPr sz="800" spc="10" baseline="0"/>
            </a:lvl1pPr>
          </a:lstStyle>
          <a:p>
            <a:pPr lvl="0"/>
            <a:r>
              <a:rPr lang="de-DE" dirty="0"/>
              <a:t>Bildbeschriftung</a:t>
            </a:r>
          </a:p>
        </p:txBody>
      </p:sp>
    </p:spTree>
    <p:extLst>
      <p:ext uri="{BB962C8B-B14F-4D97-AF65-F5344CB8AC3E}">
        <p14:creationId xmlns:p14="http://schemas.microsoft.com/office/powerpoint/2010/main" val="18288977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8">
            <a:extLst>
              <a:ext uri="{FF2B5EF4-FFF2-40B4-BE49-F238E27FC236}">
                <a16:creationId xmlns:a16="http://schemas.microsoft.com/office/drawing/2014/main" id="{97C9E030-31D9-82FF-6171-8087B4B693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63525" y="908050"/>
            <a:ext cx="3794857" cy="2143515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06022BFD-0602-58B4-2288-D5248A5D83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63525" y="3051565"/>
            <a:ext cx="3794857" cy="467360"/>
          </a:xfrm>
          <a:solidFill>
            <a:schemeClr val="accent5"/>
          </a:solidFill>
        </p:spPr>
        <p:txBody>
          <a:bodyPr lIns="108000" tIns="108000" rIns="108000" bIns="108000"/>
          <a:lstStyle>
            <a:lvl1pPr marL="0" indent="0">
              <a:lnSpc>
                <a:spcPct val="103000"/>
              </a:lnSpc>
              <a:buNone/>
              <a:defRPr sz="800" spc="10" baseline="0"/>
            </a:lvl1pPr>
          </a:lstStyle>
          <a:p>
            <a:pPr lvl="0"/>
            <a:r>
              <a:rPr lang="de-DE" dirty="0"/>
              <a:t>Bildbeschriftung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8A7BE738-6297-C70C-2B72-7A053F1E3E0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4202382" y="908050"/>
            <a:ext cx="3787237" cy="2143515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3C7A4867-3FB8-7D37-F741-15EAC2B4AB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202382" y="3051565"/>
            <a:ext cx="3787237" cy="467360"/>
          </a:xfrm>
          <a:solidFill>
            <a:schemeClr val="accent5"/>
          </a:solidFill>
        </p:spPr>
        <p:txBody>
          <a:bodyPr lIns="108000" tIns="108000" rIns="108000" bIns="108000"/>
          <a:lstStyle>
            <a:lvl1pPr marL="0" indent="0">
              <a:lnSpc>
                <a:spcPct val="103000"/>
              </a:lnSpc>
              <a:buNone/>
              <a:defRPr sz="800" spc="10" baseline="0"/>
            </a:lvl1pPr>
          </a:lstStyle>
          <a:p>
            <a:pPr lvl="0"/>
            <a:r>
              <a:rPr lang="de-DE" dirty="0"/>
              <a:t>Bildbeschriftung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5D2191B9-3DBD-5457-7E20-DECDDFDBB18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8133619" y="908050"/>
            <a:ext cx="3794856" cy="2143515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06C1E689-6793-F75F-1130-662C849D48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33619" y="3051565"/>
            <a:ext cx="3794856" cy="467360"/>
          </a:xfrm>
          <a:solidFill>
            <a:schemeClr val="accent5"/>
          </a:solidFill>
        </p:spPr>
        <p:txBody>
          <a:bodyPr lIns="108000" tIns="108000" rIns="108000" bIns="108000"/>
          <a:lstStyle>
            <a:lvl1pPr marL="0" indent="0">
              <a:lnSpc>
                <a:spcPct val="103000"/>
              </a:lnSpc>
              <a:buNone/>
              <a:defRPr sz="800" spc="10" baseline="0"/>
            </a:lvl1pPr>
          </a:lstStyle>
          <a:p>
            <a:pPr lvl="0"/>
            <a:r>
              <a:rPr lang="de-DE" dirty="0"/>
              <a:t>Bildbeschriftung</a:t>
            </a:r>
          </a:p>
        </p:txBody>
      </p:sp>
      <p:sp>
        <p:nvSpPr>
          <p:cNvPr id="15" name="Bildplatzhalter 8">
            <a:extLst>
              <a:ext uri="{FF2B5EF4-FFF2-40B4-BE49-F238E27FC236}">
                <a16:creationId xmlns:a16="http://schemas.microsoft.com/office/drawing/2014/main" id="{B18930CB-0C4C-E441-3A70-59E1529BA0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263525" y="3662925"/>
            <a:ext cx="3794857" cy="2143515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6" name="Textplatzhalter 3">
            <a:extLst>
              <a:ext uri="{FF2B5EF4-FFF2-40B4-BE49-F238E27FC236}">
                <a16:creationId xmlns:a16="http://schemas.microsoft.com/office/drawing/2014/main" id="{3E9A1046-02AF-D92F-A1C9-923984B9BB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263525" y="5806440"/>
            <a:ext cx="3794857" cy="467360"/>
          </a:xfrm>
          <a:solidFill>
            <a:schemeClr val="accent5"/>
          </a:solidFill>
        </p:spPr>
        <p:txBody>
          <a:bodyPr lIns="108000" tIns="108000" rIns="108000" bIns="108000"/>
          <a:lstStyle>
            <a:lvl1pPr marL="0" indent="0">
              <a:lnSpc>
                <a:spcPct val="103000"/>
              </a:lnSpc>
              <a:buNone/>
              <a:defRPr sz="800" spc="10" baseline="0"/>
            </a:lvl1pPr>
          </a:lstStyle>
          <a:p>
            <a:pPr lvl="0"/>
            <a:r>
              <a:rPr lang="de-DE" dirty="0"/>
              <a:t>Bildbeschriftung</a:t>
            </a:r>
          </a:p>
        </p:txBody>
      </p:sp>
      <p:sp>
        <p:nvSpPr>
          <p:cNvPr id="17" name="Bildplatzhalter 8">
            <a:extLst>
              <a:ext uri="{FF2B5EF4-FFF2-40B4-BE49-F238E27FC236}">
                <a16:creationId xmlns:a16="http://schemas.microsoft.com/office/drawing/2014/main" id="{93E41189-7B8C-DC0F-063A-0204CCCDD2C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4202382" y="3662925"/>
            <a:ext cx="3787237" cy="2143515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EF9280DC-F72F-F20B-7634-D597DF28DF4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202382" y="5806440"/>
            <a:ext cx="3787237" cy="467360"/>
          </a:xfrm>
          <a:solidFill>
            <a:schemeClr val="accent5"/>
          </a:solidFill>
        </p:spPr>
        <p:txBody>
          <a:bodyPr lIns="108000" tIns="108000" rIns="108000" bIns="108000"/>
          <a:lstStyle>
            <a:lvl1pPr marL="0" indent="0">
              <a:lnSpc>
                <a:spcPct val="103000"/>
              </a:lnSpc>
              <a:buNone/>
              <a:defRPr sz="800" spc="10" baseline="0"/>
            </a:lvl1pPr>
          </a:lstStyle>
          <a:p>
            <a:pPr lvl="0"/>
            <a:r>
              <a:rPr lang="de-DE" dirty="0"/>
              <a:t>Bildbeschriftung</a:t>
            </a:r>
          </a:p>
        </p:txBody>
      </p:sp>
      <p:sp>
        <p:nvSpPr>
          <p:cNvPr id="19" name="Bildplatzhalter 8">
            <a:extLst>
              <a:ext uri="{FF2B5EF4-FFF2-40B4-BE49-F238E27FC236}">
                <a16:creationId xmlns:a16="http://schemas.microsoft.com/office/drawing/2014/main" id="{A992D505-B943-32D2-58C2-58146ACACAE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8133619" y="3662925"/>
            <a:ext cx="3794856" cy="2143515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3949A475-2582-7688-49B7-01E71DE120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8133619" y="5806440"/>
            <a:ext cx="3794856" cy="467360"/>
          </a:xfrm>
          <a:solidFill>
            <a:schemeClr val="accent5"/>
          </a:solidFill>
        </p:spPr>
        <p:txBody>
          <a:bodyPr lIns="108000" tIns="108000" rIns="108000" bIns="108000"/>
          <a:lstStyle>
            <a:lvl1pPr marL="0" indent="0">
              <a:lnSpc>
                <a:spcPct val="103000"/>
              </a:lnSpc>
              <a:buNone/>
              <a:defRPr sz="800" spc="10" baseline="0"/>
            </a:lvl1pPr>
          </a:lstStyle>
          <a:p>
            <a:pPr lvl="0"/>
            <a:r>
              <a:rPr lang="de-DE" dirty="0"/>
              <a:t>Bildbeschriftung</a:t>
            </a:r>
          </a:p>
        </p:txBody>
      </p:sp>
    </p:spTree>
    <p:extLst>
      <p:ext uri="{BB962C8B-B14F-4D97-AF65-F5344CB8AC3E}">
        <p14:creationId xmlns:p14="http://schemas.microsoft.com/office/powerpoint/2010/main" val="17679545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ä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C9060A92-7333-E9D2-FEF2-734B7CDC82DC}"/>
              </a:ext>
            </a:extLst>
          </p:cNvPr>
          <p:cNvSpPr/>
          <p:nvPr userDrawn="1"/>
        </p:nvSpPr>
        <p:spPr bwMode="gray">
          <a:xfrm>
            <a:off x="263525" y="908050"/>
            <a:ext cx="11664950" cy="5365750"/>
          </a:xfrm>
          <a:custGeom>
            <a:avLst/>
            <a:gdLst>
              <a:gd name="connsiteX0" fmla="*/ 10697910 w 11664950"/>
              <a:gd name="connsiteY0" fmla="*/ 3576013 h 5365750"/>
              <a:gd name="connsiteX1" fmla="*/ 11192067 w 11664950"/>
              <a:gd name="connsiteY1" fmla="*/ 3576013 h 5365750"/>
              <a:gd name="connsiteX2" fmla="*/ 11192067 w 11664950"/>
              <a:gd name="connsiteY2" fmla="*/ 5365750 h 5365750"/>
              <a:gd name="connsiteX3" fmla="*/ 10697910 w 11664950"/>
              <a:gd name="connsiteY3" fmla="*/ 5365750 h 5365750"/>
              <a:gd name="connsiteX4" fmla="*/ 11192067 w 11664950"/>
              <a:gd name="connsiteY4" fmla="*/ 1455141 h 5365750"/>
              <a:gd name="connsiteX5" fmla="*/ 11664950 w 11664950"/>
              <a:gd name="connsiteY5" fmla="*/ 1455141 h 5365750"/>
              <a:gd name="connsiteX6" fmla="*/ 11664950 w 11664950"/>
              <a:gd name="connsiteY6" fmla="*/ 3576012 h 5365750"/>
              <a:gd name="connsiteX7" fmla="*/ 11192067 w 11664950"/>
              <a:gd name="connsiteY7" fmla="*/ 3576012 h 5365750"/>
              <a:gd name="connsiteX8" fmla="*/ 0 w 11664950"/>
              <a:gd name="connsiteY8" fmla="*/ 0 h 5365750"/>
              <a:gd name="connsiteX9" fmla="*/ 11192067 w 11664950"/>
              <a:gd name="connsiteY9" fmla="*/ 0 h 5365750"/>
              <a:gd name="connsiteX10" fmla="*/ 11192067 w 11664950"/>
              <a:gd name="connsiteY10" fmla="*/ 1455139 h 5365750"/>
              <a:gd name="connsiteX11" fmla="*/ 10697909 w 11664950"/>
              <a:gd name="connsiteY11" fmla="*/ 1455139 h 5365750"/>
              <a:gd name="connsiteX12" fmla="*/ 10697909 w 11664950"/>
              <a:gd name="connsiteY12" fmla="*/ 3576012 h 5365750"/>
              <a:gd name="connsiteX13" fmla="*/ 10216470 w 11664950"/>
              <a:gd name="connsiteY13" fmla="*/ 3576012 h 5365750"/>
              <a:gd name="connsiteX14" fmla="*/ 10216470 w 11664950"/>
              <a:gd name="connsiteY14" fmla="*/ 5365750 h 5365750"/>
              <a:gd name="connsiteX15" fmla="*/ 0 w 11664950"/>
              <a:gd name="connsiteY15" fmla="*/ 5365750 h 536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664950" h="5365750">
                <a:moveTo>
                  <a:pt x="10697910" y="3576013"/>
                </a:moveTo>
                <a:lnTo>
                  <a:pt x="11192067" y="3576013"/>
                </a:lnTo>
                <a:lnTo>
                  <a:pt x="11192067" y="5365750"/>
                </a:lnTo>
                <a:lnTo>
                  <a:pt x="10697910" y="5365750"/>
                </a:lnTo>
                <a:close/>
                <a:moveTo>
                  <a:pt x="11192067" y="1455141"/>
                </a:moveTo>
                <a:lnTo>
                  <a:pt x="11664950" y="1455141"/>
                </a:lnTo>
                <a:lnTo>
                  <a:pt x="11664950" y="3576012"/>
                </a:lnTo>
                <a:lnTo>
                  <a:pt x="11192067" y="3576012"/>
                </a:lnTo>
                <a:close/>
                <a:moveTo>
                  <a:pt x="0" y="0"/>
                </a:moveTo>
                <a:lnTo>
                  <a:pt x="11192067" y="0"/>
                </a:lnTo>
                <a:lnTo>
                  <a:pt x="11192067" y="1455139"/>
                </a:lnTo>
                <a:lnTo>
                  <a:pt x="10697909" y="1455139"/>
                </a:lnTo>
                <a:lnTo>
                  <a:pt x="10697909" y="3576012"/>
                </a:lnTo>
                <a:lnTo>
                  <a:pt x="10216470" y="3576012"/>
                </a:lnTo>
                <a:lnTo>
                  <a:pt x="10216470" y="5365750"/>
                </a:lnTo>
                <a:lnTo>
                  <a:pt x="0" y="53657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4000"/>
              </a:lnSpc>
            </a:pPr>
            <a:endParaRPr lang="de-DE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8389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AD2A970-F2F8-EC95-7259-C4CF09DD2F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1577339" y="1320164"/>
            <a:ext cx="9379585" cy="4953635"/>
          </a:xfrm>
        </p:spPr>
        <p:txBody>
          <a:bodyPr/>
          <a:lstStyle>
            <a:lvl1pPr marL="92075" indent="-92075">
              <a:lnSpc>
                <a:spcPct val="90000"/>
              </a:lnSpc>
              <a:buNone/>
              <a:defRPr sz="4000" spc="80" baseline="0"/>
            </a:lvl1pPr>
            <a:lvl2pPr marL="92075" indent="0">
              <a:spcBef>
                <a:spcPts val="1400"/>
              </a:spcBef>
              <a:buNone/>
              <a:defRPr sz="1000" cap="all" baseline="0"/>
            </a:lvl2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543982F4-6357-B501-E552-CB488A11864F}"/>
              </a:ext>
            </a:extLst>
          </p:cNvPr>
          <p:cNvSpPr/>
          <p:nvPr userDrawn="1"/>
        </p:nvSpPr>
        <p:spPr bwMode="gray">
          <a:xfrm>
            <a:off x="11820720" y="4484062"/>
            <a:ext cx="371280" cy="1053158"/>
          </a:xfrm>
          <a:custGeom>
            <a:avLst/>
            <a:gdLst>
              <a:gd name="connsiteX0" fmla="*/ 0 w 487802"/>
              <a:gd name="connsiteY0" fmla="*/ 0 h 1318835"/>
              <a:gd name="connsiteX1" fmla="*/ 487802 w 487802"/>
              <a:gd name="connsiteY1" fmla="*/ 0 h 1318835"/>
              <a:gd name="connsiteX2" fmla="*/ 487802 w 487802"/>
              <a:gd name="connsiteY2" fmla="*/ 1318835 h 1318835"/>
              <a:gd name="connsiteX3" fmla="*/ 0 w 487802"/>
              <a:gd name="connsiteY3" fmla="*/ 1318835 h 1318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2" h="1318835">
                <a:moveTo>
                  <a:pt x="0" y="0"/>
                </a:moveTo>
                <a:lnTo>
                  <a:pt x="487802" y="0"/>
                </a:lnTo>
                <a:lnTo>
                  <a:pt x="487802" y="1318835"/>
                </a:lnTo>
                <a:lnTo>
                  <a:pt x="0" y="1318835"/>
                </a:lnTo>
                <a:close/>
              </a:path>
            </a:pathLst>
          </a:custGeom>
          <a:solidFill>
            <a:schemeClr val="accent5"/>
          </a:solidFill>
          <a:ln w="6357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797B3F93-7838-51D3-6214-E82D8EF1E591}"/>
              </a:ext>
            </a:extLst>
          </p:cNvPr>
          <p:cNvSpPr/>
          <p:nvPr userDrawn="1"/>
        </p:nvSpPr>
        <p:spPr bwMode="gray">
          <a:xfrm>
            <a:off x="11455592" y="5537213"/>
            <a:ext cx="365128" cy="1320787"/>
          </a:xfrm>
          <a:custGeom>
            <a:avLst/>
            <a:gdLst>
              <a:gd name="connsiteX0" fmla="*/ 0 w 481439"/>
              <a:gd name="connsiteY0" fmla="*/ 0 h 2120873"/>
              <a:gd name="connsiteX1" fmla="*/ 481440 w 481439"/>
              <a:gd name="connsiteY1" fmla="*/ 0 h 2120873"/>
              <a:gd name="connsiteX2" fmla="*/ 481440 w 481439"/>
              <a:gd name="connsiteY2" fmla="*/ 2120874 h 2120873"/>
              <a:gd name="connsiteX3" fmla="*/ 0 w 481439"/>
              <a:gd name="connsiteY3" fmla="*/ 2120874 h 2120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439" h="2120873">
                <a:moveTo>
                  <a:pt x="0" y="0"/>
                </a:moveTo>
                <a:lnTo>
                  <a:pt x="481440" y="0"/>
                </a:lnTo>
                <a:lnTo>
                  <a:pt x="481440" y="2120874"/>
                </a:lnTo>
                <a:lnTo>
                  <a:pt x="0" y="2120874"/>
                </a:lnTo>
                <a:close/>
              </a:path>
            </a:pathLst>
          </a:custGeom>
          <a:solidFill>
            <a:schemeClr val="accent5"/>
          </a:solidFill>
          <a:ln w="6357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EC2493C7-E0B7-59AF-9F24-AD42D319EDBC}"/>
              </a:ext>
            </a:extLst>
          </p:cNvPr>
          <p:cNvSpPr/>
          <p:nvPr userDrawn="1"/>
        </p:nvSpPr>
        <p:spPr bwMode="gray">
          <a:xfrm>
            <a:off x="372808" y="1304925"/>
            <a:ext cx="363600" cy="1058271"/>
          </a:xfrm>
          <a:custGeom>
            <a:avLst/>
            <a:gdLst>
              <a:gd name="connsiteX0" fmla="*/ 0 w 487802"/>
              <a:gd name="connsiteY0" fmla="*/ 0 h 1318835"/>
              <a:gd name="connsiteX1" fmla="*/ 487802 w 487802"/>
              <a:gd name="connsiteY1" fmla="*/ 0 h 1318835"/>
              <a:gd name="connsiteX2" fmla="*/ 487802 w 487802"/>
              <a:gd name="connsiteY2" fmla="*/ 1318835 h 1318835"/>
              <a:gd name="connsiteX3" fmla="*/ 0 w 487802"/>
              <a:gd name="connsiteY3" fmla="*/ 1318835 h 1318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2" h="1318835">
                <a:moveTo>
                  <a:pt x="0" y="0"/>
                </a:moveTo>
                <a:lnTo>
                  <a:pt x="487802" y="0"/>
                </a:lnTo>
                <a:lnTo>
                  <a:pt x="487802" y="1318835"/>
                </a:lnTo>
                <a:lnTo>
                  <a:pt x="0" y="1318835"/>
                </a:lnTo>
                <a:close/>
              </a:path>
            </a:pathLst>
          </a:custGeom>
          <a:solidFill>
            <a:schemeClr val="accent5"/>
          </a:solidFill>
          <a:ln w="6357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B84B9592-5FDC-BA6C-9390-EC8942533DF5}"/>
              </a:ext>
            </a:extLst>
          </p:cNvPr>
          <p:cNvSpPr/>
          <p:nvPr userDrawn="1"/>
        </p:nvSpPr>
        <p:spPr bwMode="gray">
          <a:xfrm>
            <a:off x="0" y="2363189"/>
            <a:ext cx="372808" cy="1318835"/>
          </a:xfrm>
          <a:custGeom>
            <a:avLst/>
            <a:gdLst>
              <a:gd name="connsiteX0" fmla="*/ 0 w 481439"/>
              <a:gd name="connsiteY0" fmla="*/ 0 h 2120873"/>
              <a:gd name="connsiteX1" fmla="*/ 481440 w 481439"/>
              <a:gd name="connsiteY1" fmla="*/ 0 h 2120873"/>
              <a:gd name="connsiteX2" fmla="*/ 481440 w 481439"/>
              <a:gd name="connsiteY2" fmla="*/ 2120874 h 2120873"/>
              <a:gd name="connsiteX3" fmla="*/ 0 w 481439"/>
              <a:gd name="connsiteY3" fmla="*/ 2120874 h 2120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439" h="2120873">
                <a:moveTo>
                  <a:pt x="0" y="0"/>
                </a:moveTo>
                <a:lnTo>
                  <a:pt x="481440" y="0"/>
                </a:lnTo>
                <a:lnTo>
                  <a:pt x="481440" y="2120874"/>
                </a:lnTo>
                <a:lnTo>
                  <a:pt x="0" y="2120874"/>
                </a:lnTo>
                <a:close/>
              </a:path>
            </a:pathLst>
          </a:custGeom>
          <a:solidFill>
            <a:schemeClr val="accent5"/>
          </a:solidFill>
          <a:ln w="6357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6228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AD2A970-F2F8-EC95-7259-C4CF09DD2F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1638299" y="1320164"/>
            <a:ext cx="9318625" cy="4953635"/>
          </a:xfrm>
        </p:spPr>
        <p:txBody>
          <a:bodyPr/>
          <a:lstStyle>
            <a:lvl1pPr marL="92075" indent="-92075">
              <a:lnSpc>
                <a:spcPct val="94000"/>
              </a:lnSpc>
              <a:buNone/>
              <a:tabLst>
                <a:tab pos="92075" algn="l"/>
              </a:tabLst>
              <a:defRPr sz="2000" spc="20" baseline="0"/>
            </a:lvl1pPr>
            <a:lvl2pPr marL="92075" indent="0">
              <a:spcBef>
                <a:spcPts val="1400"/>
              </a:spcBef>
              <a:buNone/>
              <a:defRPr sz="1000" cap="all" baseline="0"/>
            </a:lvl2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543982F4-6357-B501-E552-CB488A11864F}"/>
              </a:ext>
            </a:extLst>
          </p:cNvPr>
          <p:cNvSpPr/>
          <p:nvPr userDrawn="1"/>
        </p:nvSpPr>
        <p:spPr bwMode="gray">
          <a:xfrm>
            <a:off x="11820720" y="4484062"/>
            <a:ext cx="371280" cy="1053158"/>
          </a:xfrm>
          <a:custGeom>
            <a:avLst/>
            <a:gdLst>
              <a:gd name="connsiteX0" fmla="*/ 0 w 487802"/>
              <a:gd name="connsiteY0" fmla="*/ 0 h 1318835"/>
              <a:gd name="connsiteX1" fmla="*/ 487802 w 487802"/>
              <a:gd name="connsiteY1" fmla="*/ 0 h 1318835"/>
              <a:gd name="connsiteX2" fmla="*/ 487802 w 487802"/>
              <a:gd name="connsiteY2" fmla="*/ 1318835 h 1318835"/>
              <a:gd name="connsiteX3" fmla="*/ 0 w 487802"/>
              <a:gd name="connsiteY3" fmla="*/ 1318835 h 1318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2" h="1318835">
                <a:moveTo>
                  <a:pt x="0" y="0"/>
                </a:moveTo>
                <a:lnTo>
                  <a:pt x="487802" y="0"/>
                </a:lnTo>
                <a:lnTo>
                  <a:pt x="487802" y="1318835"/>
                </a:lnTo>
                <a:lnTo>
                  <a:pt x="0" y="1318835"/>
                </a:lnTo>
                <a:close/>
              </a:path>
            </a:pathLst>
          </a:custGeom>
          <a:solidFill>
            <a:schemeClr val="accent5"/>
          </a:solidFill>
          <a:ln w="6357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797B3F93-7838-51D3-6214-E82D8EF1E591}"/>
              </a:ext>
            </a:extLst>
          </p:cNvPr>
          <p:cNvSpPr/>
          <p:nvPr userDrawn="1"/>
        </p:nvSpPr>
        <p:spPr bwMode="gray">
          <a:xfrm>
            <a:off x="11455592" y="5537213"/>
            <a:ext cx="365128" cy="1320787"/>
          </a:xfrm>
          <a:custGeom>
            <a:avLst/>
            <a:gdLst>
              <a:gd name="connsiteX0" fmla="*/ 0 w 481439"/>
              <a:gd name="connsiteY0" fmla="*/ 0 h 2120873"/>
              <a:gd name="connsiteX1" fmla="*/ 481440 w 481439"/>
              <a:gd name="connsiteY1" fmla="*/ 0 h 2120873"/>
              <a:gd name="connsiteX2" fmla="*/ 481440 w 481439"/>
              <a:gd name="connsiteY2" fmla="*/ 2120874 h 2120873"/>
              <a:gd name="connsiteX3" fmla="*/ 0 w 481439"/>
              <a:gd name="connsiteY3" fmla="*/ 2120874 h 2120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439" h="2120873">
                <a:moveTo>
                  <a:pt x="0" y="0"/>
                </a:moveTo>
                <a:lnTo>
                  <a:pt x="481440" y="0"/>
                </a:lnTo>
                <a:lnTo>
                  <a:pt x="481440" y="2120874"/>
                </a:lnTo>
                <a:lnTo>
                  <a:pt x="0" y="2120874"/>
                </a:lnTo>
                <a:close/>
              </a:path>
            </a:pathLst>
          </a:custGeom>
          <a:solidFill>
            <a:schemeClr val="accent5"/>
          </a:solidFill>
          <a:ln w="6357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EC2493C7-E0B7-59AF-9F24-AD42D319EDBC}"/>
              </a:ext>
            </a:extLst>
          </p:cNvPr>
          <p:cNvSpPr/>
          <p:nvPr userDrawn="1"/>
        </p:nvSpPr>
        <p:spPr bwMode="gray">
          <a:xfrm>
            <a:off x="372808" y="1304925"/>
            <a:ext cx="363600" cy="1058271"/>
          </a:xfrm>
          <a:custGeom>
            <a:avLst/>
            <a:gdLst>
              <a:gd name="connsiteX0" fmla="*/ 0 w 487802"/>
              <a:gd name="connsiteY0" fmla="*/ 0 h 1318835"/>
              <a:gd name="connsiteX1" fmla="*/ 487802 w 487802"/>
              <a:gd name="connsiteY1" fmla="*/ 0 h 1318835"/>
              <a:gd name="connsiteX2" fmla="*/ 487802 w 487802"/>
              <a:gd name="connsiteY2" fmla="*/ 1318835 h 1318835"/>
              <a:gd name="connsiteX3" fmla="*/ 0 w 487802"/>
              <a:gd name="connsiteY3" fmla="*/ 1318835 h 1318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2" h="1318835">
                <a:moveTo>
                  <a:pt x="0" y="0"/>
                </a:moveTo>
                <a:lnTo>
                  <a:pt x="487802" y="0"/>
                </a:lnTo>
                <a:lnTo>
                  <a:pt x="487802" y="1318835"/>
                </a:lnTo>
                <a:lnTo>
                  <a:pt x="0" y="1318835"/>
                </a:lnTo>
                <a:close/>
              </a:path>
            </a:pathLst>
          </a:custGeom>
          <a:solidFill>
            <a:schemeClr val="accent5"/>
          </a:solidFill>
          <a:ln w="6357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B84B9592-5FDC-BA6C-9390-EC8942533DF5}"/>
              </a:ext>
            </a:extLst>
          </p:cNvPr>
          <p:cNvSpPr/>
          <p:nvPr userDrawn="1"/>
        </p:nvSpPr>
        <p:spPr bwMode="gray">
          <a:xfrm>
            <a:off x="0" y="2363189"/>
            <a:ext cx="372808" cy="1318835"/>
          </a:xfrm>
          <a:custGeom>
            <a:avLst/>
            <a:gdLst>
              <a:gd name="connsiteX0" fmla="*/ 0 w 481439"/>
              <a:gd name="connsiteY0" fmla="*/ 0 h 2120873"/>
              <a:gd name="connsiteX1" fmla="*/ 481440 w 481439"/>
              <a:gd name="connsiteY1" fmla="*/ 0 h 2120873"/>
              <a:gd name="connsiteX2" fmla="*/ 481440 w 481439"/>
              <a:gd name="connsiteY2" fmla="*/ 2120874 h 2120873"/>
              <a:gd name="connsiteX3" fmla="*/ 0 w 481439"/>
              <a:gd name="connsiteY3" fmla="*/ 2120874 h 2120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439" h="2120873">
                <a:moveTo>
                  <a:pt x="0" y="0"/>
                </a:moveTo>
                <a:lnTo>
                  <a:pt x="481440" y="0"/>
                </a:lnTo>
                <a:lnTo>
                  <a:pt x="481440" y="2120874"/>
                </a:lnTo>
                <a:lnTo>
                  <a:pt x="0" y="2120874"/>
                </a:lnTo>
                <a:close/>
              </a:path>
            </a:pathLst>
          </a:custGeom>
          <a:solidFill>
            <a:schemeClr val="accent5"/>
          </a:solidFill>
          <a:ln w="6357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0698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0976F8EF-610A-DCEF-1A70-730170C1B7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63525" y="1304925"/>
            <a:ext cx="10693400" cy="316865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B1479A-FAA5-D20B-A06D-FC0A755222A3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731839" y="5221128"/>
            <a:ext cx="9756773" cy="1376522"/>
          </a:xfrm>
        </p:spPr>
        <p:txBody>
          <a:bodyPr anchor="t"/>
          <a:lstStyle>
            <a:lvl1pPr algn="l">
              <a:defRPr sz="3000" cap="none" spc="50"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8DA01E7-B9F8-0F29-721B-DBF3ABE344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11" y="208799"/>
            <a:ext cx="2477821" cy="828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3E7D435-6EF8-E400-2512-45D744B87CC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414" y="204788"/>
            <a:ext cx="115534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022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1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5D483F02-ED2A-4CB5-E9B6-9F1518D618D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63525" y="1304925"/>
            <a:ext cx="10693400" cy="2665095"/>
          </a:xfrm>
          <a:custGeom>
            <a:avLst/>
            <a:gdLst>
              <a:gd name="connsiteX0" fmla="*/ 10216470 w 10693400"/>
              <a:gd name="connsiteY0" fmla="*/ 0 h 2665095"/>
              <a:gd name="connsiteX1" fmla="*/ 10693400 w 10693400"/>
              <a:gd name="connsiteY1" fmla="*/ 0 h 2665095"/>
              <a:gd name="connsiteX2" fmla="*/ 10693400 w 10693400"/>
              <a:gd name="connsiteY2" fmla="*/ 1058263 h 2665095"/>
              <a:gd name="connsiteX3" fmla="*/ 10216470 w 10693400"/>
              <a:gd name="connsiteY3" fmla="*/ 1058263 h 2665095"/>
              <a:gd name="connsiteX4" fmla="*/ 0 w 10693400"/>
              <a:gd name="connsiteY4" fmla="*/ 0 h 2665095"/>
              <a:gd name="connsiteX5" fmla="*/ 9728668 w 10693400"/>
              <a:gd name="connsiteY5" fmla="*/ 0 h 2665095"/>
              <a:gd name="connsiteX6" fmla="*/ 9728668 w 10693400"/>
              <a:gd name="connsiteY6" fmla="*/ 1058270 h 2665095"/>
              <a:gd name="connsiteX7" fmla="*/ 10216470 w 10693400"/>
              <a:gd name="connsiteY7" fmla="*/ 1058270 h 2665095"/>
              <a:gd name="connsiteX8" fmla="*/ 10216470 w 10693400"/>
              <a:gd name="connsiteY8" fmla="*/ 2665095 h 2665095"/>
              <a:gd name="connsiteX9" fmla="*/ 9722305 w 10693400"/>
              <a:gd name="connsiteY9" fmla="*/ 2665095 h 2665095"/>
              <a:gd name="connsiteX10" fmla="*/ 9722305 w 10693400"/>
              <a:gd name="connsiteY10" fmla="*/ 1058263 h 2665095"/>
              <a:gd name="connsiteX11" fmla="*/ 9240865 w 10693400"/>
              <a:gd name="connsiteY11" fmla="*/ 1058263 h 2665095"/>
              <a:gd name="connsiteX12" fmla="*/ 9240865 w 10693400"/>
              <a:gd name="connsiteY12" fmla="*/ 2665095 h 2665095"/>
              <a:gd name="connsiteX13" fmla="*/ 0 w 10693400"/>
              <a:gd name="connsiteY13" fmla="*/ 2665095 h 2665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93400" h="2665095">
                <a:moveTo>
                  <a:pt x="10216470" y="0"/>
                </a:moveTo>
                <a:lnTo>
                  <a:pt x="10693400" y="0"/>
                </a:lnTo>
                <a:lnTo>
                  <a:pt x="10693400" y="1058263"/>
                </a:lnTo>
                <a:lnTo>
                  <a:pt x="10216470" y="1058263"/>
                </a:lnTo>
                <a:close/>
                <a:moveTo>
                  <a:pt x="0" y="0"/>
                </a:moveTo>
                <a:lnTo>
                  <a:pt x="9728668" y="0"/>
                </a:lnTo>
                <a:lnTo>
                  <a:pt x="9728668" y="1058270"/>
                </a:lnTo>
                <a:lnTo>
                  <a:pt x="10216470" y="1058270"/>
                </a:lnTo>
                <a:lnTo>
                  <a:pt x="10216470" y="2665095"/>
                </a:lnTo>
                <a:lnTo>
                  <a:pt x="9722305" y="2665095"/>
                </a:lnTo>
                <a:lnTo>
                  <a:pt x="9722305" y="1058263"/>
                </a:lnTo>
                <a:lnTo>
                  <a:pt x="9240865" y="1058263"/>
                </a:lnTo>
                <a:lnTo>
                  <a:pt x="9240865" y="2665095"/>
                </a:lnTo>
                <a:lnTo>
                  <a:pt x="0" y="266509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B1479A-FAA5-D20B-A06D-FC0A755222A3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731839" y="4463732"/>
            <a:ext cx="9756773" cy="2133918"/>
          </a:xfrm>
        </p:spPr>
        <p:txBody>
          <a:bodyPr anchor="t"/>
          <a:lstStyle>
            <a:lvl1pPr algn="l">
              <a:defRPr sz="3000" cap="none" spc="50"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2FF3F45-F12D-C274-7337-8B959F8EB4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11" y="208799"/>
            <a:ext cx="2477821" cy="828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B1E3701-2675-78C1-3FB5-AF35653D8AF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414" y="204788"/>
            <a:ext cx="115534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908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1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AF3CB661-0B04-F788-83F9-332BB8BD1374}"/>
              </a:ext>
            </a:extLst>
          </p:cNvPr>
          <p:cNvSpPr/>
          <p:nvPr userDrawn="1"/>
        </p:nvSpPr>
        <p:spPr bwMode="ltGray">
          <a:xfrm>
            <a:off x="263525" y="1304925"/>
            <a:ext cx="10693400" cy="5292725"/>
          </a:xfrm>
          <a:custGeom>
            <a:avLst/>
            <a:gdLst>
              <a:gd name="connsiteX0" fmla="*/ 10216470 w 10693400"/>
              <a:gd name="connsiteY0" fmla="*/ 0 h 5292725"/>
              <a:gd name="connsiteX1" fmla="*/ 10693400 w 10693400"/>
              <a:gd name="connsiteY1" fmla="*/ 0 h 5292725"/>
              <a:gd name="connsiteX2" fmla="*/ 10693400 w 10693400"/>
              <a:gd name="connsiteY2" fmla="*/ 2124075 h 5292725"/>
              <a:gd name="connsiteX3" fmla="*/ 10216470 w 10693400"/>
              <a:gd name="connsiteY3" fmla="*/ 2124075 h 5292725"/>
              <a:gd name="connsiteX4" fmla="*/ 0 w 10693400"/>
              <a:gd name="connsiteY4" fmla="*/ 0 h 5292725"/>
              <a:gd name="connsiteX5" fmla="*/ 9728668 w 10693400"/>
              <a:gd name="connsiteY5" fmla="*/ 0 h 5292725"/>
              <a:gd name="connsiteX6" fmla="*/ 9728668 w 10693400"/>
              <a:gd name="connsiteY6" fmla="*/ 2124075 h 5292725"/>
              <a:gd name="connsiteX7" fmla="*/ 10216470 w 10693400"/>
              <a:gd name="connsiteY7" fmla="*/ 2124075 h 5292725"/>
              <a:gd name="connsiteX8" fmla="*/ 10216470 w 10693400"/>
              <a:gd name="connsiteY8" fmla="*/ 5292725 h 5292725"/>
              <a:gd name="connsiteX9" fmla="*/ 9722305 w 10693400"/>
              <a:gd name="connsiteY9" fmla="*/ 5292725 h 5292725"/>
              <a:gd name="connsiteX10" fmla="*/ 9722305 w 10693400"/>
              <a:gd name="connsiteY10" fmla="*/ 2124075 h 5292725"/>
              <a:gd name="connsiteX11" fmla="*/ 9240865 w 10693400"/>
              <a:gd name="connsiteY11" fmla="*/ 2124075 h 5292725"/>
              <a:gd name="connsiteX12" fmla="*/ 9240865 w 10693400"/>
              <a:gd name="connsiteY12" fmla="*/ 5292725 h 5292725"/>
              <a:gd name="connsiteX13" fmla="*/ 0 w 10693400"/>
              <a:gd name="connsiteY13" fmla="*/ 5292725 h 529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93400" h="5292725">
                <a:moveTo>
                  <a:pt x="10216470" y="0"/>
                </a:moveTo>
                <a:lnTo>
                  <a:pt x="10693400" y="0"/>
                </a:lnTo>
                <a:lnTo>
                  <a:pt x="10693400" y="2124075"/>
                </a:lnTo>
                <a:lnTo>
                  <a:pt x="10216470" y="2124075"/>
                </a:lnTo>
                <a:close/>
                <a:moveTo>
                  <a:pt x="0" y="0"/>
                </a:moveTo>
                <a:lnTo>
                  <a:pt x="9728668" y="0"/>
                </a:lnTo>
                <a:lnTo>
                  <a:pt x="9728668" y="2124075"/>
                </a:lnTo>
                <a:lnTo>
                  <a:pt x="10216470" y="2124075"/>
                </a:lnTo>
                <a:lnTo>
                  <a:pt x="10216470" y="5292725"/>
                </a:lnTo>
                <a:lnTo>
                  <a:pt x="9722305" y="5292725"/>
                </a:lnTo>
                <a:lnTo>
                  <a:pt x="9722305" y="2124075"/>
                </a:lnTo>
                <a:lnTo>
                  <a:pt x="9240865" y="2124075"/>
                </a:lnTo>
                <a:lnTo>
                  <a:pt x="9240865" y="5292725"/>
                </a:lnTo>
                <a:lnTo>
                  <a:pt x="0" y="529272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B1479A-FAA5-D20B-A06D-FC0A755222A3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982663" y="1844674"/>
            <a:ext cx="8054657" cy="1674495"/>
          </a:xfrm>
        </p:spPr>
        <p:txBody>
          <a:bodyPr anchor="b"/>
          <a:lstStyle>
            <a:lvl1pPr algn="l">
              <a:defRPr sz="3000" cap="none" spc="50"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E2A86E3-DF74-7E86-2859-9E158C3B37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11" y="208799"/>
            <a:ext cx="2477821" cy="828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E1DDC08-BD9B-EA45-72EF-95F71CD61C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414" y="204788"/>
            <a:ext cx="115534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90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FD013FC-D17E-9343-FFBE-A340DC50518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2662" y="1252855"/>
            <a:ext cx="9974263" cy="4410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9BC901-5E55-E668-34DD-9BB7DB29E4E4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982663" y="1844674"/>
            <a:ext cx="9974262" cy="4429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AE49C6E-14B3-E3F0-F085-18D2A6F2C2F8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44475" y="225678"/>
            <a:ext cx="1977232" cy="42404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78D8E65A-254A-6A78-9E94-F0C8949F4468}"/>
              </a:ext>
            </a:extLst>
          </p:cNvPr>
          <p:cNvSpPr txBox="1"/>
          <p:nvPr userDrawn="1"/>
        </p:nvSpPr>
        <p:spPr bwMode="gray">
          <a:xfrm>
            <a:off x="263525" y="6477000"/>
            <a:ext cx="11664950" cy="138176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en-US" sz="600" spc="0" baseline="0" dirty="0"/>
              <a:t>Control of the Order Agent in Highly Flexible Matrix Structured Manufacturing Systems Using Money-based Negotiations </a:t>
            </a:r>
            <a:r>
              <a:rPr lang="de-DE" sz="600" spc="0" baseline="0" dirty="0"/>
              <a:t>I  Hochschule Bielefeld I  Seite </a:t>
            </a:r>
            <a:fld id="{83D501BB-3CE5-4313-8E22-3A52033AD7BF}" type="slidenum">
              <a:rPr lang="de-DE" sz="600" spc="0" baseline="0" smtClean="0"/>
              <a:t>‹#›</a:t>
            </a:fld>
            <a:endParaRPr lang="de-DE" sz="600" spc="0" baseline="0" dirty="0"/>
          </a:p>
        </p:txBody>
      </p:sp>
    </p:spTree>
    <p:extLst>
      <p:ext uri="{BB962C8B-B14F-4D97-AF65-F5344CB8AC3E}">
        <p14:creationId xmlns:p14="http://schemas.microsoft.com/office/powerpoint/2010/main" val="565378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50" r:id="rId9"/>
    <p:sldLayoutId id="2147483678" r:id="rId10"/>
    <p:sldLayoutId id="2147483654" r:id="rId11"/>
    <p:sldLayoutId id="2147483672" r:id="rId12"/>
    <p:sldLayoutId id="2147483673" r:id="rId13"/>
    <p:sldLayoutId id="2147483663" r:id="rId14"/>
    <p:sldLayoutId id="2147483664" r:id="rId15"/>
    <p:sldLayoutId id="2147483674" r:id="rId16"/>
    <p:sldLayoutId id="2147483665" r:id="rId17"/>
    <p:sldLayoutId id="2147483666" r:id="rId18"/>
    <p:sldLayoutId id="2147483667" r:id="rId19"/>
    <p:sldLayoutId id="2147483668" r:id="rId20"/>
    <p:sldLayoutId id="2147483675" r:id="rId21"/>
    <p:sldLayoutId id="2147483676" r:id="rId22"/>
    <p:sldLayoutId id="2147483677" r:id="rId23"/>
    <p:sldLayoutId id="2147483669" r:id="rId24"/>
    <p:sldLayoutId id="2147483670" r:id="rId25"/>
    <p:sldLayoutId id="2147483671" r:id="rId26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4000"/>
        </a:lnSpc>
        <a:spcBef>
          <a:spcPts val="0"/>
        </a:spcBef>
        <a:buFontTx/>
        <a:buBlip>
          <a:blip r:embed="rId29"/>
        </a:buBlip>
        <a:defRPr sz="20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4000"/>
        </a:lnSpc>
        <a:spcBef>
          <a:spcPts val="0"/>
        </a:spcBef>
        <a:buFontTx/>
        <a:buBlip>
          <a:blip r:embed="rId29"/>
        </a:buBlip>
        <a:defRPr sz="20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4000"/>
        </a:lnSpc>
        <a:spcBef>
          <a:spcPts val="0"/>
        </a:spcBef>
        <a:buFontTx/>
        <a:buBlip>
          <a:blip r:embed="rId29"/>
        </a:buBlip>
        <a:defRPr sz="20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4000"/>
        </a:lnSpc>
        <a:spcBef>
          <a:spcPts val="0"/>
        </a:spcBef>
        <a:buFontTx/>
        <a:buBlip>
          <a:blip r:embed="rId29"/>
        </a:buBlip>
        <a:defRPr sz="20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4000"/>
        </a:lnSpc>
        <a:spcBef>
          <a:spcPts val="0"/>
        </a:spcBef>
        <a:buFontTx/>
        <a:buBlip>
          <a:blip r:embed="rId29"/>
        </a:buBlip>
        <a:defRPr sz="20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66" userDrawn="1">
          <p15:clr>
            <a:srgbClr val="F26B43"/>
          </p15:clr>
        </p15:guide>
        <p15:guide id="2" orient="horz" pos="572" userDrawn="1">
          <p15:clr>
            <a:srgbClr val="F26B43"/>
          </p15:clr>
        </p15:guide>
        <p15:guide id="3" pos="7514" userDrawn="1">
          <p15:clr>
            <a:srgbClr val="F26B43"/>
          </p15:clr>
        </p15:guide>
        <p15:guide id="4" pos="6902" userDrawn="1">
          <p15:clr>
            <a:srgbClr val="F26B43"/>
          </p15:clr>
        </p15:guide>
        <p15:guide id="5" orient="horz" pos="4156" userDrawn="1">
          <p15:clr>
            <a:srgbClr val="F26B43"/>
          </p15:clr>
        </p15:guide>
        <p15:guide id="6" orient="horz" pos="822" userDrawn="1">
          <p15:clr>
            <a:srgbClr val="F26B43"/>
          </p15:clr>
        </p15:guide>
        <p15:guide id="7" orient="horz" pos="3952" userDrawn="1">
          <p15:clr>
            <a:srgbClr val="F26B43"/>
          </p15:clr>
        </p15:guide>
        <p15:guide id="8" pos="619" userDrawn="1">
          <p15:clr>
            <a:srgbClr val="F26B43"/>
          </p15:clr>
        </p15:guide>
        <p15:guide id="9" orient="horz" pos="1162" userDrawn="1">
          <p15:clr>
            <a:srgbClr val="F26B43"/>
          </p15:clr>
        </p15:guide>
        <p15:guide id="10" orient="horz" pos="2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platzhalter 5">
            <a:extLst>
              <a:ext uri="{FF2B5EF4-FFF2-40B4-BE49-F238E27FC236}">
                <a16:creationId xmlns:a16="http://schemas.microsoft.com/office/drawing/2014/main" id="{458972FA-851F-35F4-169B-75AEA4F222E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" b="11"/>
          <a:stretch>
            <a:fillRect/>
          </a:stretch>
        </p:blipFill>
        <p:spPr>
          <a:xfrm>
            <a:off x="749300" y="1434549"/>
            <a:ext cx="10693400" cy="3168650"/>
          </a:xfr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B49F1313-0C5F-18C6-55E1-72E940D530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300" y="4765199"/>
            <a:ext cx="10418514" cy="658252"/>
          </a:xfrm>
        </p:spPr>
        <p:txBody>
          <a:bodyPr/>
          <a:lstStyle/>
          <a:p>
            <a:r>
              <a:rPr lang="en-US" dirty="0"/>
              <a:t>Time-Series Analytics with Caching Layer </a:t>
            </a:r>
            <a:endParaRPr lang="en-GB" noProof="0" dirty="0"/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4B018232-5D07-69DB-BD11-459A9068A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9300" y="5670401"/>
            <a:ext cx="7098750" cy="394279"/>
          </a:xfrm>
        </p:spPr>
        <p:txBody>
          <a:bodyPr/>
          <a:lstStyle/>
          <a:p>
            <a:r>
              <a:rPr lang="en-GB" noProof="0" dirty="0"/>
              <a:t>Jane Kedina Imoke &amp; Ricardo Ramos Morales</a:t>
            </a:r>
          </a:p>
        </p:txBody>
      </p:sp>
      <p:sp>
        <p:nvSpPr>
          <p:cNvPr id="2" name="Untertitel 3">
            <a:extLst>
              <a:ext uri="{FF2B5EF4-FFF2-40B4-BE49-F238E27FC236}">
                <a16:creationId xmlns:a16="http://schemas.microsoft.com/office/drawing/2014/main" id="{E6EBA9A4-4DCD-1E2B-9392-7C5BA14D03ED}"/>
              </a:ext>
            </a:extLst>
          </p:cNvPr>
          <p:cNvSpPr txBox="1">
            <a:spLocks/>
          </p:cNvSpPr>
          <p:nvPr/>
        </p:nvSpPr>
        <p:spPr bwMode="gray">
          <a:xfrm>
            <a:off x="749300" y="5274217"/>
            <a:ext cx="3323936" cy="28144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4000"/>
              </a:lnSpc>
              <a:spcBef>
                <a:spcPts val="0"/>
              </a:spcBef>
              <a:buFontTx/>
              <a:buNone/>
              <a:defRPr sz="20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0"/>
              </a:spcBef>
              <a:buFontTx/>
              <a:buNone/>
              <a:defRPr sz="20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0"/>
              </a:spcBef>
              <a:buFontTx/>
              <a:buNone/>
              <a:defRPr sz="18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0"/>
              </a:spcBef>
              <a:buFontTx/>
              <a:buNone/>
              <a:defRPr sz="16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0"/>
              </a:spcBef>
              <a:buFontTx/>
              <a:buNone/>
              <a:defRPr sz="1600" kern="1200" spc="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Big Data Architectures Project</a:t>
            </a:r>
          </a:p>
        </p:txBody>
      </p:sp>
    </p:spTree>
    <p:extLst>
      <p:ext uri="{BB962C8B-B14F-4D97-AF65-F5344CB8AC3E}">
        <p14:creationId xmlns:p14="http://schemas.microsoft.com/office/powerpoint/2010/main" val="844523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D22E1-84AD-1A12-4242-97E375B30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CFFD50-BE20-0D34-5529-456FBDBFE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3" y="811847"/>
            <a:ext cx="9974263" cy="441008"/>
          </a:xfrm>
        </p:spPr>
        <p:txBody>
          <a:bodyPr/>
          <a:lstStyle/>
          <a:p>
            <a:r>
              <a:rPr lang="en-GB" sz="4400" noProof="0" dirty="0"/>
              <a:t>AGENDA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1940D31-6CFF-E18C-4556-EE956E2075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2663" y="1411287"/>
            <a:ext cx="9974262" cy="5105891"/>
          </a:xfrm>
        </p:spPr>
        <p:txBody>
          <a:bodyPr/>
          <a:lstStyle/>
          <a:p>
            <a:r>
              <a:rPr lang="en-GB" sz="3000" dirty="0"/>
              <a:t>Motivation</a:t>
            </a:r>
          </a:p>
          <a:p>
            <a:r>
              <a:rPr lang="en-GB" sz="3000" noProof="0" dirty="0"/>
              <a:t>Problem Statement</a:t>
            </a:r>
          </a:p>
          <a:p>
            <a:r>
              <a:rPr lang="en-GB" sz="3000" dirty="0"/>
              <a:t>Project Objectives</a:t>
            </a:r>
          </a:p>
          <a:p>
            <a:r>
              <a:rPr lang="en-GB" sz="3000" noProof="0" dirty="0"/>
              <a:t>Architecture Design</a:t>
            </a:r>
          </a:p>
          <a:p>
            <a:r>
              <a:rPr lang="en-GB" sz="3000" dirty="0"/>
              <a:t>Technology Section</a:t>
            </a:r>
          </a:p>
          <a:p>
            <a:r>
              <a:rPr lang="en-GB" sz="3000" noProof="0" dirty="0"/>
              <a:t>System Implementation</a:t>
            </a:r>
          </a:p>
          <a:p>
            <a:r>
              <a:rPr lang="en-GB" sz="3000" dirty="0"/>
              <a:t>Analytics &amp; Anomaly Detection</a:t>
            </a:r>
          </a:p>
          <a:p>
            <a:r>
              <a:rPr lang="en-GB" sz="3000" noProof="0" dirty="0"/>
              <a:t>Dashboard Demonstration</a:t>
            </a:r>
          </a:p>
          <a:p>
            <a:r>
              <a:rPr lang="en-GB" sz="3000" noProof="0" dirty="0"/>
              <a:t>S</a:t>
            </a:r>
            <a:r>
              <a:rPr lang="en-GB" sz="3000" dirty="0" err="1"/>
              <a:t>ystem</a:t>
            </a:r>
            <a:r>
              <a:rPr lang="en-GB" sz="3000" dirty="0"/>
              <a:t> Evaluation</a:t>
            </a:r>
            <a:endParaRPr lang="en-GB" sz="3000" noProof="0" dirty="0"/>
          </a:p>
          <a:p>
            <a:r>
              <a:rPr lang="en-GB" sz="3000" dirty="0"/>
              <a:t>Challenges &amp; Lessons Learned</a:t>
            </a:r>
          </a:p>
          <a:p>
            <a:r>
              <a:rPr lang="en-GB" sz="3000" noProof="0" dirty="0"/>
              <a:t>Future Enhancements</a:t>
            </a:r>
          </a:p>
          <a:p>
            <a:r>
              <a:rPr lang="en-GB" sz="3000" dirty="0"/>
              <a:t>Conclusions</a:t>
            </a:r>
            <a:endParaRPr lang="en-GB" sz="3000" noProof="0" dirty="0"/>
          </a:p>
        </p:txBody>
      </p:sp>
    </p:spTree>
    <p:extLst>
      <p:ext uri="{BB962C8B-B14F-4D97-AF65-F5344CB8AC3E}">
        <p14:creationId xmlns:p14="http://schemas.microsoft.com/office/powerpoint/2010/main" val="4213014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1159D-DC03-E260-61D5-AA911C63A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AC520D-FE38-06F2-35B1-D9CBD99762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2663" y="1411287"/>
            <a:ext cx="9974262" cy="2811577"/>
          </a:xfrm>
        </p:spPr>
        <p:txBody>
          <a:bodyPr/>
          <a:lstStyle/>
          <a:p>
            <a:pPr marL="0" indent="0" algn="ctr">
              <a:buNone/>
            </a:pPr>
            <a:r>
              <a:rPr lang="en-GB" sz="6000" b="1" noProof="0" dirty="0"/>
              <a:t>SECTION 1</a:t>
            </a:r>
          </a:p>
          <a:p>
            <a:pPr marL="0" indent="0" algn="ctr">
              <a:buNone/>
            </a:pPr>
            <a:r>
              <a:rPr lang="en-GB" sz="6000" b="1" dirty="0"/>
              <a:t>MOTIVATION &amp; PROBLEM STATEMENT</a:t>
            </a:r>
            <a:endParaRPr lang="en-GB" sz="6000" b="1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B1EC121-F0C4-14F6-58FF-49E793FD7892}"/>
              </a:ext>
            </a:extLst>
          </p:cNvPr>
          <p:cNvCxnSpPr/>
          <p:nvPr/>
        </p:nvCxnSpPr>
        <p:spPr>
          <a:xfrm>
            <a:off x="1330036" y="2244434"/>
            <a:ext cx="942663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035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530591C2-093A-6BDB-0DDE-6E965F5BC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674" y="1269481"/>
            <a:ext cx="5370512" cy="409690"/>
          </a:xfrm>
        </p:spPr>
        <p:txBody>
          <a:bodyPr/>
          <a:lstStyle/>
          <a:p>
            <a:pPr algn="ctr"/>
            <a:r>
              <a:rPr lang="en-GB" b="1" noProof="0" dirty="0"/>
              <a:t>Motivation</a:t>
            </a:r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1C10F07E-2810-79C7-50D7-DEF495F5F0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3675" y="1679171"/>
            <a:ext cx="5370511" cy="4372494"/>
          </a:xfrm>
        </p:spPr>
        <p:txBody>
          <a:bodyPr/>
          <a:lstStyle/>
          <a:p>
            <a:r>
              <a:rPr lang="en-GB" sz="2750" noProof="0" dirty="0"/>
              <a:t>Why Time-Series Analytics</a:t>
            </a:r>
          </a:p>
          <a:p>
            <a:pPr lvl="1"/>
            <a:r>
              <a:rPr lang="en-GB" sz="2750" dirty="0"/>
              <a:t>Smart factories</a:t>
            </a:r>
          </a:p>
          <a:p>
            <a:pPr lvl="1"/>
            <a:r>
              <a:rPr lang="en-GB" sz="2750" noProof="0" dirty="0"/>
              <a:t>Cloud monitoring</a:t>
            </a:r>
          </a:p>
          <a:p>
            <a:pPr lvl="1"/>
            <a:r>
              <a:rPr lang="en-GB" sz="2750" dirty="0"/>
              <a:t>Energy systems</a:t>
            </a:r>
          </a:p>
          <a:p>
            <a:pPr lvl="1"/>
            <a:r>
              <a:rPr lang="en-GB" sz="2750" noProof="0" dirty="0"/>
              <a:t>IoT devices</a:t>
            </a:r>
          </a:p>
          <a:p>
            <a:pPr lvl="1"/>
            <a:r>
              <a:rPr lang="en-GB" sz="2750" dirty="0"/>
              <a:t>Healthcare sensors</a:t>
            </a:r>
          </a:p>
          <a:p>
            <a:r>
              <a:rPr lang="en-GB" sz="2750" dirty="0"/>
              <a:t>Challenges</a:t>
            </a:r>
          </a:p>
          <a:p>
            <a:pPr lvl="1"/>
            <a:r>
              <a:rPr lang="en-GB" sz="2750" dirty="0"/>
              <a:t>Continuous data generation</a:t>
            </a:r>
          </a:p>
          <a:p>
            <a:pPr lvl="1"/>
            <a:r>
              <a:rPr lang="en-GB" sz="2750" dirty="0"/>
              <a:t>Growing storage requirements</a:t>
            </a:r>
          </a:p>
          <a:p>
            <a:pPr lvl="1"/>
            <a:r>
              <a:rPr lang="en-GB" sz="2750" dirty="0"/>
              <a:t>Slow repeated queries</a:t>
            </a:r>
          </a:p>
          <a:p>
            <a:pPr lvl="1"/>
            <a:r>
              <a:rPr lang="en-GB" sz="2750" dirty="0"/>
              <a:t>Real-time monitoring needs</a:t>
            </a:r>
          </a:p>
          <a:p>
            <a:pPr lvl="1"/>
            <a:endParaRPr lang="en-GB" sz="2750" dirty="0"/>
          </a:p>
        </p:txBody>
      </p:sp>
      <p:pic>
        <p:nvPicPr>
          <p:cNvPr id="2050" name="Picture 2" descr="Discover Types of IoT Sensors, Applications and Examples">
            <a:extLst>
              <a:ext uri="{FF2B5EF4-FFF2-40B4-BE49-F238E27FC236}">
                <a16:creationId xmlns:a16="http://schemas.microsoft.com/office/drawing/2014/main" id="{73C6E140-00A0-C816-06D1-5934C8660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69481"/>
            <a:ext cx="5491942" cy="4782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2484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87E64-CE16-139A-0698-681A6C87E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93C1D5F1-60CB-830D-E2E7-17838E47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674" y="1269481"/>
            <a:ext cx="5370512" cy="409690"/>
          </a:xfrm>
        </p:spPr>
        <p:txBody>
          <a:bodyPr/>
          <a:lstStyle/>
          <a:p>
            <a:pPr algn="ctr"/>
            <a:r>
              <a:rPr lang="en-GB" b="1" noProof="0" dirty="0"/>
              <a:t>Research problem</a:t>
            </a:r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D27C9F2A-A8FE-9C93-5996-99A4AD7858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3675" y="1679171"/>
            <a:ext cx="5212325" cy="455537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sz="2750" dirty="0"/>
              <a:t>How can a Big Data architecture efficiently:</a:t>
            </a:r>
          </a:p>
          <a:p>
            <a:pPr lvl="1">
              <a:lnSpc>
                <a:spcPct val="150000"/>
              </a:lnSpc>
            </a:pPr>
            <a:r>
              <a:rPr lang="en-GB" sz="2750" dirty="0"/>
              <a:t>Ingest continuous data</a:t>
            </a:r>
          </a:p>
          <a:p>
            <a:pPr lvl="1">
              <a:lnSpc>
                <a:spcPct val="150000"/>
              </a:lnSpc>
            </a:pPr>
            <a:r>
              <a:rPr lang="en-GB" sz="2750" dirty="0"/>
              <a:t>Store historical records</a:t>
            </a:r>
          </a:p>
          <a:p>
            <a:pPr lvl="1">
              <a:lnSpc>
                <a:spcPct val="150000"/>
              </a:lnSpc>
            </a:pPr>
            <a:r>
              <a:rPr lang="en-GB" sz="2750" dirty="0"/>
              <a:t>Provide fast retrieval</a:t>
            </a:r>
          </a:p>
          <a:p>
            <a:pPr lvl="1">
              <a:lnSpc>
                <a:spcPct val="150000"/>
              </a:lnSpc>
            </a:pPr>
            <a:r>
              <a:rPr lang="en-GB" sz="2750" dirty="0"/>
              <a:t>Detect anomalies</a:t>
            </a:r>
          </a:p>
          <a:p>
            <a:pPr lvl="1">
              <a:lnSpc>
                <a:spcPct val="150000"/>
              </a:lnSpc>
            </a:pPr>
            <a:r>
              <a:rPr lang="en-GB" sz="2750" dirty="0"/>
              <a:t>Support real-time monitoring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907C1D-3119-5EC5-80F6-A0913FD6CF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182" r="28066"/>
          <a:stretch>
            <a:fillRect/>
          </a:stretch>
        </p:blipFill>
        <p:spPr>
          <a:xfrm>
            <a:off x="6772596" y="1269481"/>
            <a:ext cx="4125635" cy="496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19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484E4-3D36-DDEC-6A1E-A5F00DD54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8A0A3D2D-881D-87AE-26CC-A0C6A9050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744" y="1269481"/>
            <a:ext cx="5370512" cy="409690"/>
          </a:xfrm>
        </p:spPr>
        <p:txBody>
          <a:bodyPr/>
          <a:lstStyle/>
          <a:p>
            <a:pPr algn="ctr"/>
            <a:r>
              <a:rPr lang="en-GB" b="1" dirty="0"/>
              <a:t>Project objectives</a:t>
            </a:r>
            <a:endParaRPr lang="en-GB" b="1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2314BE-C1AC-FEAE-19F0-E1CFC38FD9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5" t="10909" r="17227" b="10061"/>
          <a:stretch>
            <a:fillRect/>
          </a:stretch>
        </p:blipFill>
        <p:spPr>
          <a:xfrm>
            <a:off x="2269374" y="1679171"/>
            <a:ext cx="7653251" cy="468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615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CBA96-9EDF-0525-0C7F-C1156CBAD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722752-39D0-A2AE-F196-FB6507182D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2663" y="1411287"/>
            <a:ext cx="9974262" cy="2811577"/>
          </a:xfrm>
        </p:spPr>
        <p:txBody>
          <a:bodyPr/>
          <a:lstStyle/>
          <a:p>
            <a:pPr marL="0" indent="0" algn="ctr">
              <a:buNone/>
            </a:pPr>
            <a:r>
              <a:rPr lang="en-GB" sz="6000" b="1" noProof="0" dirty="0"/>
              <a:t>SECTION 2</a:t>
            </a:r>
          </a:p>
          <a:p>
            <a:pPr marL="0" indent="0" algn="ctr">
              <a:buNone/>
            </a:pPr>
            <a:r>
              <a:rPr lang="en-GB" sz="6000" b="1" dirty="0"/>
              <a:t>ARCHITECTURE DESIGN</a:t>
            </a:r>
            <a:endParaRPr lang="en-GB" sz="6000" b="1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221E80-7A95-4DFD-3525-477C8FE81D44}"/>
              </a:ext>
            </a:extLst>
          </p:cNvPr>
          <p:cNvCxnSpPr/>
          <p:nvPr/>
        </p:nvCxnSpPr>
        <p:spPr>
          <a:xfrm>
            <a:off x="1330036" y="2244434"/>
            <a:ext cx="942663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852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5A587-8100-3F65-49A8-B75861006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32091A17-8190-E824-4D2C-9F935B21F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675" y="1325304"/>
            <a:ext cx="5370512" cy="409690"/>
          </a:xfrm>
        </p:spPr>
        <p:txBody>
          <a:bodyPr/>
          <a:lstStyle/>
          <a:p>
            <a:pPr algn="ctr"/>
            <a:r>
              <a:rPr lang="en-GB" b="1" noProof="0" dirty="0"/>
              <a:t>Why lambda architecture</a:t>
            </a:r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9CED3FBF-FE33-B7E9-D6D7-4F0E0A5084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3675" y="1945178"/>
            <a:ext cx="5212325" cy="390934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sz="2750" dirty="0"/>
              <a:t>Lambda Architecture:</a:t>
            </a:r>
          </a:p>
          <a:p>
            <a:pPr lvl="1">
              <a:lnSpc>
                <a:spcPct val="100000"/>
              </a:lnSpc>
            </a:pPr>
            <a:r>
              <a:rPr lang="en-GB" sz="2750" dirty="0"/>
              <a:t>Batch Layer</a:t>
            </a:r>
          </a:p>
          <a:p>
            <a:pPr lvl="1">
              <a:lnSpc>
                <a:spcPct val="100000"/>
              </a:lnSpc>
            </a:pPr>
            <a:r>
              <a:rPr lang="en-GB" sz="2750" dirty="0"/>
              <a:t>Speed Layer</a:t>
            </a:r>
          </a:p>
          <a:p>
            <a:pPr lvl="1">
              <a:lnSpc>
                <a:spcPct val="100000"/>
              </a:lnSpc>
            </a:pPr>
            <a:r>
              <a:rPr lang="en-GB" sz="2750" dirty="0"/>
              <a:t>Serving Layer</a:t>
            </a:r>
          </a:p>
          <a:p>
            <a:pPr>
              <a:lnSpc>
                <a:spcPct val="100000"/>
              </a:lnSpc>
            </a:pPr>
            <a:r>
              <a:rPr lang="en-GB" sz="2750" dirty="0"/>
              <a:t>Benefits:</a:t>
            </a:r>
          </a:p>
          <a:p>
            <a:pPr lvl="1">
              <a:lnSpc>
                <a:spcPct val="100000"/>
              </a:lnSpc>
            </a:pPr>
            <a:r>
              <a:rPr lang="en-GB" sz="2750" dirty="0"/>
              <a:t>Scalability</a:t>
            </a:r>
          </a:p>
          <a:p>
            <a:pPr lvl="1">
              <a:lnSpc>
                <a:spcPct val="100000"/>
              </a:lnSpc>
            </a:pPr>
            <a:r>
              <a:rPr lang="en-GB" sz="2750" dirty="0"/>
              <a:t>Fault tolerance</a:t>
            </a:r>
          </a:p>
          <a:p>
            <a:pPr lvl="1">
              <a:lnSpc>
                <a:spcPct val="100000"/>
              </a:lnSpc>
            </a:pPr>
            <a:r>
              <a:rPr lang="en-GB" sz="2750" dirty="0"/>
              <a:t>Low latency</a:t>
            </a:r>
          </a:p>
          <a:p>
            <a:pPr lvl="1">
              <a:lnSpc>
                <a:spcPct val="100000"/>
              </a:lnSpc>
            </a:pPr>
            <a:r>
              <a:rPr lang="en-GB" sz="2750" dirty="0"/>
              <a:t>Historical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7386CC-84D5-08E2-7F72-7C3FFBAAF4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48" t="5244" r="2020"/>
          <a:stretch>
            <a:fillRect/>
          </a:stretch>
        </p:blipFill>
        <p:spPr>
          <a:xfrm>
            <a:off x="6166197" y="1325304"/>
            <a:ext cx="5571374" cy="436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6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80755-0584-3A24-9AAD-72CB033B5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DC9373BB-939F-7A91-846B-E0DA1C22A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675" y="1325304"/>
            <a:ext cx="5370512" cy="409690"/>
          </a:xfrm>
        </p:spPr>
        <p:txBody>
          <a:bodyPr/>
          <a:lstStyle/>
          <a:p>
            <a:pPr algn="ctr"/>
            <a:r>
              <a:rPr lang="en-GB" b="1" noProof="0" dirty="0"/>
              <a:t>SYSTEM architecture</a:t>
            </a:r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84C94EAC-DB8F-D549-0EB1-2499301C6B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3675" y="1734994"/>
            <a:ext cx="5212325" cy="448887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sz="2750" dirty="0"/>
              <a:t>Components:</a:t>
            </a:r>
          </a:p>
          <a:p>
            <a:pPr lvl="1">
              <a:lnSpc>
                <a:spcPct val="150000"/>
              </a:lnSpc>
            </a:pPr>
            <a:r>
              <a:rPr lang="en-GB" sz="2750" dirty="0"/>
              <a:t>Sensor generator</a:t>
            </a:r>
          </a:p>
          <a:p>
            <a:pPr lvl="1">
              <a:lnSpc>
                <a:spcPct val="150000"/>
              </a:lnSpc>
            </a:pPr>
            <a:r>
              <a:rPr lang="en-GB" sz="2750" dirty="0" err="1"/>
              <a:t>InfluxDB</a:t>
            </a:r>
            <a:endParaRPr lang="en-GB" sz="2750" dirty="0"/>
          </a:p>
          <a:p>
            <a:pPr lvl="1">
              <a:lnSpc>
                <a:spcPct val="150000"/>
              </a:lnSpc>
            </a:pPr>
            <a:r>
              <a:rPr lang="en-GB" sz="2750" dirty="0"/>
              <a:t>Redis</a:t>
            </a:r>
          </a:p>
          <a:p>
            <a:pPr lvl="1">
              <a:lnSpc>
                <a:spcPct val="150000"/>
              </a:lnSpc>
            </a:pPr>
            <a:r>
              <a:rPr lang="en-GB" sz="2750" dirty="0"/>
              <a:t>Spark</a:t>
            </a:r>
          </a:p>
          <a:p>
            <a:pPr lvl="1">
              <a:lnSpc>
                <a:spcPct val="150000"/>
              </a:lnSpc>
            </a:pPr>
            <a:r>
              <a:rPr lang="en-GB" sz="2750" dirty="0"/>
              <a:t>Query Service</a:t>
            </a:r>
          </a:p>
          <a:p>
            <a:pPr lvl="1">
              <a:lnSpc>
                <a:spcPct val="150000"/>
              </a:lnSpc>
            </a:pPr>
            <a:r>
              <a:rPr lang="en-GB" sz="2750" dirty="0"/>
              <a:t>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6BC076-274A-3345-B8D7-17E54E9BE4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773" t="17212" r="30318" b="17333"/>
          <a:stretch>
            <a:fillRect/>
          </a:stretch>
        </p:blipFill>
        <p:spPr>
          <a:xfrm>
            <a:off x="5586151" y="1325303"/>
            <a:ext cx="5722174" cy="489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74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68D49-6C0D-A47E-0F39-ABAC76818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483B114A-5D61-F435-E79B-AC5388BBA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1525" y="859032"/>
            <a:ext cx="5370512" cy="409690"/>
          </a:xfrm>
        </p:spPr>
        <p:txBody>
          <a:bodyPr/>
          <a:lstStyle/>
          <a:p>
            <a:pPr algn="ctr"/>
            <a:r>
              <a:rPr lang="en-GB" b="1" noProof="0" dirty="0" err="1"/>
              <a:t>END-to-end</a:t>
            </a:r>
            <a:r>
              <a:rPr lang="en-GB" b="1" noProof="0" dirty="0"/>
              <a:t> data flow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DF14DC-A4EE-E1A6-CE77-96384DDF597B}"/>
              </a:ext>
            </a:extLst>
          </p:cNvPr>
          <p:cNvSpPr txBox="1"/>
          <p:nvPr/>
        </p:nvSpPr>
        <p:spPr>
          <a:xfrm>
            <a:off x="4269968" y="1406871"/>
            <a:ext cx="3524596" cy="471068"/>
          </a:xfrm>
          <a:prstGeom prst="rect">
            <a:avLst/>
          </a:prstGeom>
          <a:noFill/>
        </p:spPr>
        <p:txBody>
          <a:bodyPr wrap="square" lIns="108000" tIns="108000" rIns="108000" bIns="72000" rtlCol="0" anchor="t">
            <a:spAutoFit/>
          </a:bodyPr>
          <a:lstStyle/>
          <a:p>
            <a:pPr algn="ctr">
              <a:lnSpc>
                <a:spcPct val="94000"/>
              </a:lnSpc>
            </a:pPr>
            <a:r>
              <a:rPr lang="en-US" sz="2000" b="1" dirty="0"/>
              <a:t>SENSOR GENERATES READINGS</a:t>
            </a:r>
            <a:endParaRPr lang="en-NG" sz="2000" b="1" dirty="0" err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EE2A9B-2A90-49C1-C04A-27836EF589B8}"/>
              </a:ext>
            </a:extLst>
          </p:cNvPr>
          <p:cNvSpPr txBox="1"/>
          <p:nvPr/>
        </p:nvSpPr>
        <p:spPr>
          <a:xfrm>
            <a:off x="4494411" y="2102788"/>
            <a:ext cx="3108960" cy="471068"/>
          </a:xfrm>
          <a:prstGeom prst="rect">
            <a:avLst/>
          </a:prstGeom>
          <a:noFill/>
        </p:spPr>
        <p:txBody>
          <a:bodyPr wrap="square" lIns="108000" tIns="108000" rIns="108000" bIns="72000" rtlCol="0" anchor="t">
            <a:spAutoFit/>
          </a:bodyPr>
          <a:lstStyle/>
          <a:p>
            <a:pPr algn="ctr">
              <a:lnSpc>
                <a:spcPct val="94000"/>
              </a:lnSpc>
            </a:pPr>
            <a:r>
              <a:rPr lang="en-US" sz="2000" b="1" dirty="0"/>
              <a:t>INFLUXDB STORES DATA</a:t>
            </a:r>
            <a:endParaRPr lang="en-NG" sz="2000" b="1" dirty="0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356E70-E968-C0AD-025C-10F4155A2178}"/>
              </a:ext>
            </a:extLst>
          </p:cNvPr>
          <p:cNvSpPr txBox="1"/>
          <p:nvPr/>
        </p:nvSpPr>
        <p:spPr>
          <a:xfrm>
            <a:off x="4414052" y="2874807"/>
            <a:ext cx="3380512" cy="471068"/>
          </a:xfrm>
          <a:prstGeom prst="rect">
            <a:avLst/>
          </a:prstGeom>
          <a:noFill/>
        </p:spPr>
        <p:txBody>
          <a:bodyPr wrap="square" lIns="108000" tIns="108000" rIns="108000" bIns="72000" rtlCol="0" anchor="t">
            <a:spAutoFit/>
          </a:bodyPr>
          <a:lstStyle/>
          <a:p>
            <a:pPr algn="ctr">
              <a:lnSpc>
                <a:spcPct val="94000"/>
              </a:lnSpc>
            </a:pPr>
            <a:r>
              <a:rPr lang="en-US" sz="2000" b="1" dirty="0"/>
              <a:t>DASHBOARD REQUESTS DATA</a:t>
            </a:r>
            <a:endParaRPr lang="en-NG" sz="2000" b="1" dirty="0" err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D6982B-3C68-1B4D-2CFE-C777D1EBEEBE}"/>
              </a:ext>
            </a:extLst>
          </p:cNvPr>
          <p:cNvSpPr txBox="1"/>
          <p:nvPr/>
        </p:nvSpPr>
        <p:spPr>
          <a:xfrm>
            <a:off x="4541520" y="3539817"/>
            <a:ext cx="3108960" cy="471068"/>
          </a:xfrm>
          <a:prstGeom prst="rect">
            <a:avLst/>
          </a:prstGeom>
          <a:noFill/>
        </p:spPr>
        <p:txBody>
          <a:bodyPr wrap="square" lIns="108000" tIns="108000" rIns="108000" bIns="72000" rtlCol="0" anchor="t">
            <a:spAutoFit/>
          </a:bodyPr>
          <a:lstStyle/>
          <a:p>
            <a:pPr algn="ctr">
              <a:lnSpc>
                <a:spcPct val="94000"/>
              </a:lnSpc>
            </a:pPr>
            <a:r>
              <a:rPr lang="en-US" sz="2000" b="1" dirty="0"/>
              <a:t>REDIS CHECKED FIRST</a:t>
            </a:r>
            <a:endParaRPr lang="en-NG" sz="2000" b="1" dirty="0" err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7EBF5B-4949-09E8-D1D6-CB6736F0A398}"/>
              </a:ext>
            </a:extLst>
          </p:cNvPr>
          <p:cNvSpPr txBox="1"/>
          <p:nvPr/>
        </p:nvSpPr>
        <p:spPr>
          <a:xfrm>
            <a:off x="5824451" y="4177686"/>
            <a:ext cx="3108960" cy="760378"/>
          </a:xfrm>
          <a:prstGeom prst="rect">
            <a:avLst/>
          </a:prstGeom>
          <a:noFill/>
        </p:spPr>
        <p:txBody>
          <a:bodyPr wrap="square" lIns="108000" tIns="108000" rIns="108000" bIns="72000" rtlCol="0" anchor="t">
            <a:spAutoFit/>
          </a:bodyPr>
          <a:lstStyle/>
          <a:p>
            <a:pPr algn="ctr">
              <a:lnSpc>
                <a:spcPct val="94000"/>
              </a:lnSpc>
            </a:pPr>
            <a:r>
              <a:rPr lang="en-US" sz="2000" b="1" dirty="0"/>
              <a:t>CACHE MISS -&gt; QUERY INFLUXDB</a:t>
            </a:r>
            <a:endParaRPr lang="en-NG" sz="2000" b="1" dirty="0" err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A9F130-4329-B297-F75E-DB7002850FE2}"/>
              </a:ext>
            </a:extLst>
          </p:cNvPr>
          <p:cNvSpPr txBox="1"/>
          <p:nvPr/>
        </p:nvSpPr>
        <p:spPr>
          <a:xfrm>
            <a:off x="2987040" y="4185440"/>
            <a:ext cx="3108960" cy="760378"/>
          </a:xfrm>
          <a:prstGeom prst="rect">
            <a:avLst/>
          </a:prstGeom>
          <a:noFill/>
        </p:spPr>
        <p:txBody>
          <a:bodyPr wrap="square" lIns="108000" tIns="108000" rIns="108000" bIns="72000" rtlCol="0" anchor="t">
            <a:spAutoFit/>
          </a:bodyPr>
          <a:lstStyle/>
          <a:p>
            <a:pPr algn="ctr">
              <a:lnSpc>
                <a:spcPct val="94000"/>
              </a:lnSpc>
            </a:pPr>
            <a:r>
              <a:rPr lang="en-US" sz="2000" b="1" dirty="0"/>
              <a:t>CACHE HIT -&gt; RETURN DATA</a:t>
            </a:r>
            <a:endParaRPr lang="en-NG" sz="2000" b="1" dirty="0" err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B7413F-B75F-C181-F22D-632EF90E7EBE}"/>
              </a:ext>
            </a:extLst>
          </p:cNvPr>
          <p:cNvSpPr txBox="1"/>
          <p:nvPr/>
        </p:nvSpPr>
        <p:spPr>
          <a:xfrm>
            <a:off x="4577545" y="5157800"/>
            <a:ext cx="3108960" cy="471068"/>
          </a:xfrm>
          <a:prstGeom prst="rect">
            <a:avLst/>
          </a:prstGeom>
          <a:noFill/>
        </p:spPr>
        <p:txBody>
          <a:bodyPr wrap="square" lIns="108000" tIns="108000" rIns="108000" bIns="72000" rtlCol="0" anchor="t">
            <a:spAutoFit/>
          </a:bodyPr>
          <a:lstStyle/>
          <a:p>
            <a:pPr algn="ctr">
              <a:lnSpc>
                <a:spcPct val="94000"/>
              </a:lnSpc>
            </a:pPr>
            <a:r>
              <a:rPr lang="en-US" sz="2000" b="1" dirty="0"/>
              <a:t>STORE IN REDIS</a:t>
            </a:r>
            <a:endParaRPr lang="en-NG" sz="2000" b="1" dirty="0" err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29978C-DD4B-98D1-386E-D0D36E75B916}"/>
              </a:ext>
            </a:extLst>
          </p:cNvPr>
          <p:cNvSpPr txBox="1"/>
          <p:nvPr/>
        </p:nvSpPr>
        <p:spPr>
          <a:xfrm>
            <a:off x="4541520" y="5833302"/>
            <a:ext cx="3108960" cy="471068"/>
          </a:xfrm>
          <a:prstGeom prst="rect">
            <a:avLst/>
          </a:prstGeom>
          <a:noFill/>
        </p:spPr>
        <p:txBody>
          <a:bodyPr wrap="square" lIns="108000" tIns="108000" rIns="108000" bIns="72000" rtlCol="0" anchor="t">
            <a:spAutoFit/>
          </a:bodyPr>
          <a:lstStyle/>
          <a:p>
            <a:pPr algn="ctr">
              <a:lnSpc>
                <a:spcPct val="94000"/>
              </a:lnSpc>
            </a:pPr>
            <a:r>
              <a:rPr lang="en-US" sz="2000" b="1" dirty="0"/>
              <a:t>RETURN RESULTS</a:t>
            </a:r>
            <a:endParaRPr lang="en-NG" sz="2000" b="1" dirty="0" err="1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62219A9-EE43-4555-C6AD-1A42423C213C}"/>
              </a:ext>
            </a:extLst>
          </p:cNvPr>
          <p:cNvCxnSpPr>
            <a:cxnSpLocks/>
          </p:cNvCxnSpPr>
          <p:nvPr/>
        </p:nvCxnSpPr>
        <p:spPr>
          <a:xfrm>
            <a:off x="6032266" y="1858970"/>
            <a:ext cx="0" cy="396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E22E0EF-BD13-5772-5FD8-C6DA058565A0}"/>
              </a:ext>
            </a:extLst>
          </p:cNvPr>
          <p:cNvCxnSpPr>
            <a:cxnSpLocks/>
          </p:cNvCxnSpPr>
          <p:nvPr/>
        </p:nvCxnSpPr>
        <p:spPr>
          <a:xfrm flipH="1">
            <a:off x="6048891" y="2555192"/>
            <a:ext cx="2775" cy="33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B92996E-77A3-2AB8-8C0B-264F34C6055F}"/>
              </a:ext>
            </a:extLst>
          </p:cNvPr>
          <p:cNvCxnSpPr>
            <a:cxnSpLocks/>
          </p:cNvCxnSpPr>
          <p:nvPr/>
        </p:nvCxnSpPr>
        <p:spPr>
          <a:xfrm>
            <a:off x="6048891" y="3259966"/>
            <a:ext cx="0" cy="428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C18AA3D-4AE1-824F-CA3D-7CD9361D3380}"/>
              </a:ext>
            </a:extLst>
          </p:cNvPr>
          <p:cNvCxnSpPr>
            <a:cxnSpLocks/>
          </p:cNvCxnSpPr>
          <p:nvPr/>
        </p:nvCxnSpPr>
        <p:spPr>
          <a:xfrm flipH="1">
            <a:off x="4541520" y="3944385"/>
            <a:ext cx="1554480" cy="240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F37E027-F19D-A846-C4A7-F9DC483D2F0A}"/>
              </a:ext>
            </a:extLst>
          </p:cNvPr>
          <p:cNvCxnSpPr>
            <a:cxnSpLocks/>
          </p:cNvCxnSpPr>
          <p:nvPr/>
        </p:nvCxnSpPr>
        <p:spPr>
          <a:xfrm>
            <a:off x="6096000" y="3944385"/>
            <a:ext cx="1282931" cy="218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3FDF1EF-9349-7A34-66D5-A2499650A812}"/>
              </a:ext>
            </a:extLst>
          </p:cNvPr>
          <p:cNvCxnSpPr>
            <a:cxnSpLocks/>
          </p:cNvCxnSpPr>
          <p:nvPr/>
        </p:nvCxnSpPr>
        <p:spPr>
          <a:xfrm>
            <a:off x="4358637" y="4863231"/>
            <a:ext cx="1051565" cy="238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305F806-23AD-D72D-BFDD-65B7CD5138B5}"/>
              </a:ext>
            </a:extLst>
          </p:cNvPr>
          <p:cNvCxnSpPr>
            <a:cxnSpLocks/>
          </p:cNvCxnSpPr>
          <p:nvPr/>
        </p:nvCxnSpPr>
        <p:spPr>
          <a:xfrm flipH="1">
            <a:off x="6781799" y="4869758"/>
            <a:ext cx="780015" cy="272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CBA245C-DC77-578D-C964-5427DF4F0F62}"/>
              </a:ext>
            </a:extLst>
          </p:cNvPr>
          <p:cNvCxnSpPr>
            <a:cxnSpLocks/>
          </p:cNvCxnSpPr>
          <p:nvPr/>
        </p:nvCxnSpPr>
        <p:spPr>
          <a:xfrm>
            <a:off x="6132025" y="5545743"/>
            <a:ext cx="0" cy="372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CBE1053-1008-1C3E-E7CD-0B773578C77C}"/>
              </a:ext>
            </a:extLst>
          </p:cNvPr>
          <p:cNvCxnSpPr/>
          <p:nvPr/>
        </p:nvCxnSpPr>
        <p:spPr>
          <a:xfrm>
            <a:off x="4414052" y="1858970"/>
            <a:ext cx="32724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0419003-B398-FE4E-3ED5-BDF80FF0BB9F}"/>
              </a:ext>
            </a:extLst>
          </p:cNvPr>
          <p:cNvCxnSpPr/>
          <p:nvPr/>
        </p:nvCxnSpPr>
        <p:spPr>
          <a:xfrm>
            <a:off x="4703622" y="2565949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EA59FD5-8235-0A07-7F23-654A92DF2CA7}"/>
              </a:ext>
            </a:extLst>
          </p:cNvPr>
          <p:cNvCxnSpPr>
            <a:cxnSpLocks/>
          </p:cNvCxnSpPr>
          <p:nvPr/>
        </p:nvCxnSpPr>
        <p:spPr>
          <a:xfrm>
            <a:off x="4414052" y="3259966"/>
            <a:ext cx="33805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4C8183B-411B-8AA1-57F4-175134909B2D}"/>
              </a:ext>
            </a:extLst>
          </p:cNvPr>
          <p:cNvCxnSpPr/>
          <p:nvPr/>
        </p:nvCxnSpPr>
        <p:spPr>
          <a:xfrm>
            <a:off x="4838006" y="3927760"/>
            <a:ext cx="25575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167FFB2-84D1-9A47-2260-C89D0A9B6C92}"/>
              </a:ext>
            </a:extLst>
          </p:cNvPr>
          <p:cNvCxnSpPr/>
          <p:nvPr/>
        </p:nvCxnSpPr>
        <p:spPr>
          <a:xfrm>
            <a:off x="5253644" y="5545743"/>
            <a:ext cx="17622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CFCCA90-9C01-678A-510A-45A967EAAB4B}"/>
              </a:ext>
            </a:extLst>
          </p:cNvPr>
          <p:cNvCxnSpPr/>
          <p:nvPr/>
        </p:nvCxnSpPr>
        <p:spPr>
          <a:xfrm>
            <a:off x="5153890" y="6184669"/>
            <a:ext cx="18953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685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363A0-54FD-D5F3-EF67-FE7C45B1B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ACE23BD8-8745-BF15-3FD9-3F33D5137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744" y="1208926"/>
            <a:ext cx="5370512" cy="409690"/>
          </a:xfrm>
        </p:spPr>
        <p:txBody>
          <a:bodyPr/>
          <a:lstStyle/>
          <a:p>
            <a:pPr algn="ctr"/>
            <a:r>
              <a:rPr lang="en-GB" b="1" noProof="0" dirty="0"/>
              <a:t>TECHNOLOGY SECTION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BBE83E-C651-BDAF-08F4-F05D50E932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91" t="10890" r="16955"/>
          <a:stretch>
            <a:fillRect/>
          </a:stretch>
        </p:blipFill>
        <p:spPr>
          <a:xfrm>
            <a:off x="2738921" y="1618616"/>
            <a:ext cx="6714158" cy="466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983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62942-C3EF-0883-F10E-D9689557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27D912-7023-2ED7-2E17-D61712BA3C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2663" y="1411287"/>
            <a:ext cx="9974262" cy="2811577"/>
          </a:xfrm>
        </p:spPr>
        <p:txBody>
          <a:bodyPr/>
          <a:lstStyle/>
          <a:p>
            <a:pPr marL="0" indent="0" algn="ctr">
              <a:buNone/>
            </a:pPr>
            <a:r>
              <a:rPr lang="en-GB" sz="6000" b="1" noProof="0" dirty="0"/>
              <a:t>SECTION 3</a:t>
            </a:r>
          </a:p>
          <a:p>
            <a:pPr marL="0" indent="0" algn="ctr">
              <a:buNone/>
            </a:pPr>
            <a:r>
              <a:rPr lang="en-GB" sz="6000" b="1" dirty="0"/>
              <a:t>IMPLEMENTATION</a:t>
            </a:r>
            <a:endParaRPr lang="en-GB" sz="6000" b="1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579719-04DF-11DA-F3DE-40E54020FB1D}"/>
              </a:ext>
            </a:extLst>
          </p:cNvPr>
          <p:cNvCxnSpPr/>
          <p:nvPr/>
        </p:nvCxnSpPr>
        <p:spPr>
          <a:xfrm>
            <a:off x="1330036" y="2244434"/>
            <a:ext cx="942663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039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B1A02-1E15-B620-DA7D-C27326647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A5640346-EC65-F6B3-06AE-740A1C137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218" y="1120458"/>
            <a:ext cx="2685256" cy="409690"/>
          </a:xfrm>
        </p:spPr>
        <p:txBody>
          <a:bodyPr/>
          <a:lstStyle/>
          <a:p>
            <a:pPr algn="ctr"/>
            <a:r>
              <a:rPr lang="en-GB" b="1" dirty="0"/>
              <a:t>DATA MODEL</a:t>
            </a:r>
            <a:endParaRPr lang="en-GB" b="1" noProof="0" dirty="0"/>
          </a:p>
        </p:txBody>
      </p:sp>
      <p:sp>
        <p:nvSpPr>
          <p:cNvPr id="3" name="Textplatzhalter 3">
            <a:extLst>
              <a:ext uri="{FF2B5EF4-FFF2-40B4-BE49-F238E27FC236}">
                <a16:creationId xmlns:a16="http://schemas.microsoft.com/office/drawing/2014/main" id="{FD87AB5F-373E-A675-B255-6FAB103B44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3676" y="1530148"/>
            <a:ext cx="4220340" cy="468243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sz="27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sensor_id</a:t>
            </a:r>
            <a:endParaRPr lang="en-GB" sz="27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GB" sz="2750" dirty="0">
                <a:latin typeface="Courier New" panose="02070309020205020404" pitchFamily="49" charset="0"/>
                <a:cs typeface="Courier New" panose="02070309020205020404" pitchFamily="49" charset="0"/>
              </a:rPr>
              <a:t>location</a:t>
            </a:r>
          </a:p>
          <a:p>
            <a:pPr>
              <a:lnSpc>
                <a:spcPct val="100000"/>
              </a:lnSpc>
            </a:pPr>
            <a:r>
              <a:rPr lang="en-GB" sz="2750" dirty="0">
                <a:latin typeface="Courier New" panose="02070309020205020404" pitchFamily="49" charset="0"/>
                <a:cs typeface="Courier New" panose="02070309020205020404" pitchFamily="49" charset="0"/>
              </a:rPr>
              <a:t>timestamp</a:t>
            </a:r>
          </a:p>
          <a:p>
            <a:pPr>
              <a:lnSpc>
                <a:spcPct val="100000"/>
              </a:lnSpc>
            </a:pPr>
            <a:r>
              <a:rPr lang="en-GB" sz="2750" dirty="0">
                <a:latin typeface="Courier New" panose="02070309020205020404" pitchFamily="49" charset="0"/>
                <a:cs typeface="Courier New" panose="02070309020205020404" pitchFamily="49" charset="0"/>
              </a:rPr>
              <a:t>temperature</a:t>
            </a:r>
          </a:p>
          <a:p>
            <a:pPr>
              <a:lnSpc>
                <a:spcPct val="100000"/>
              </a:lnSpc>
            </a:pPr>
            <a:r>
              <a:rPr lang="en-GB" sz="2750" dirty="0">
                <a:latin typeface="Courier New" panose="02070309020205020404" pitchFamily="49" charset="0"/>
                <a:cs typeface="Courier New" panose="02070309020205020404" pitchFamily="49" charset="0"/>
              </a:rPr>
              <a:t>humidity</a:t>
            </a:r>
          </a:p>
          <a:p>
            <a:pPr>
              <a:lnSpc>
                <a:spcPct val="100000"/>
              </a:lnSpc>
            </a:pPr>
            <a:r>
              <a:rPr lang="en-GB" sz="27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cpu_usage</a:t>
            </a:r>
            <a:endParaRPr lang="en-GB" sz="27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GB" sz="27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energy_consumption</a:t>
            </a:r>
            <a:endParaRPr lang="en-GB" sz="27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GB" sz="2750" dirty="0"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</a:p>
          <a:p>
            <a:pPr>
              <a:lnSpc>
                <a:spcPct val="100000"/>
              </a:lnSpc>
            </a:pPr>
            <a:r>
              <a:rPr lang="en-GB" sz="27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is_anomaly</a:t>
            </a:r>
            <a:endParaRPr lang="en-GB" sz="27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GB" sz="27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anomaly_type</a:t>
            </a:r>
            <a:endParaRPr lang="en-GB" sz="27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GB" sz="27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affected_metric</a:t>
            </a:r>
            <a:endParaRPr lang="en-GB" sz="27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A57CD7-69D4-4DD5-6C4D-193944AF8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016" y="1120458"/>
            <a:ext cx="6236229" cy="509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938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9535F-EA8A-D637-5A68-9ED43550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46BB614E-BB74-2FCD-CB0B-9BAA5C730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523" y="903034"/>
            <a:ext cx="5429964" cy="409690"/>
          </a:xfrm>
        </p:spPr>
        <p:txBody>
          <a:bodyPr/>
          <a:lstStyle/>
          <a:p>
            <a:pPr algn="ctr"/>
            <a:r>
              <a:rPr lang="en-GB" b="1" dirty="0"/>
              <a:t>INFLUXDB IMPLEMENTATION</a:t>
            </a:r>
            <a:endParaRPr lang="en-GB" b="1" noProof="0" dirty="0"/>
          </a:p>
        </p:txBody>
      </p:sp>
      <p:sp>
        <p:nvSpPr>
          <p:cNvPr id="3" name="Textplatzhalter 3">
            <a:extLst>
              <a:ext uri="{FF2B5EF4-FFF2-40B4-BE49-F238E27FC236}">
                <a16:creationId xmlns:a16="http://schemas.microsoft.com/office/drawing/2014/main" id="{B44A06E1-CE73-471B-34AD-C5C7A4D632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7174" y="1354652"/>
            <a:ext cx="4486346" cy="492977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sz="2750" dirty="0" err="1">
                <a:cs typeface="Courier New" panose="02070309020205020404" pitchFamily="49" charset="0"/>
              </a:rPr>
              <a:t>InfluxDB</a:t>
            </a:r>
            <a:r>
              <a:rPr lang="en-GB" sz="2750" dirty="0">
                <a:cs typeface="Courier New" panose="02070309020205020404" pitchFamily="49" charset="0"/>
              </a:rPr>
              <a:t> provides:</a:t>
            </a:r>
          </a:p>
          <a:p>
            <a:pPr lvl="1">
              <a:lnSpc>
                <a:spcPct val="150000"/>
              </a:lnSpc>
            </a:pPr>
            <a:r>
              <a:rPr lang="en-GB" sz="2750" dirty="0">
                <a:cs typeface="Courier New" panose="02070309020205020404" pitchFamily="49" charset="0"/>
              </a:rPr>
              <a:t>Optimised for time-series data</a:t>
            </a:r>
          </a:p>
          <a:p>
            <a:pPr lvl="1">
              <a:lnSpc>
                <a:spcPct val="150000"/>
              </a:lnSpc>
            </a:pPr>
            <a:r>
              <a:rPr lang="en-GB" sz="2750" dirty="0">
                <a:cs typeface="Courier New" panose="02070309020205020404" pitchFamily="49" charset="0"/>
              </a:rPr>
              <a:t>Fast writes</a:t>
            </a:r>
          </a:p>
          <a:p>
            <a:pPr lvl="1">
              <a:lnSpc>
                <a:spcPct val="150000"/>
              </a:lnSpc>
            </a:pPr>
            <a:r>
              <a:rPr lang="en-GB" sz="2750" dirty="0">
                <a:cs typeface="Courier New" panose="02070309020205020404" pitchFamily="49" charset="0"/>
              </a:rPr>
              <a:t>Efficient timestamp indexing</a:t>
            </a:r>
          </a:p>
          <a:p>
            <a:pPr lvl="1">
              <a:lnSpc>
                <a:spcPct val="150000"/>
              </a:lnSpc>
            </a:pPr>
            <a:r>
              <a:rPr lang="en-GB" sz="2750" dirty="0">
                <a:cs typeface="Courier New" panose="02070309020205020404" pitchFamily="49" charset="0"/>
              </a:rPr>
              <a:t>Time window queries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C54267-256A-A287-A28E-CB3F2C8BE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524" y="1354652"/>
            <a:ext cx="6101541" cy="492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575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3566F-08EF-D7BB-2533-9BA9B7448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FE6C8516-A242-BB55-659D-1E441D70F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523" y="903034"/>
            <a:ext cx="5429964" cy="409690"/>
          </a:xfrm>
        </p:spPr>
        <p:txBody>
          <a:bodyPr/>
          <a:lstStyle/>
          <a:p>
            <a:pPr algn="ctr"/>
            <a:r>
              <a:rPr lang="en-GB" b="1" dirty="0"/>
              <a:t>REDIS CACHING MECHANISM</a:t>
            </a:r>
            <a:endParaRPr lang="en-GB" b="1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1A542-2F90-EF4D-F1F6-33F7F193E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341" y="3904197"/>
            <a:ext cx="5949474" cy="22970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DC5E44-E87B-5AEA-79E3-9431DA5E602A}"/>
              </a:ext>
            </a:extLst>
          </p:cNvPr>
          <p:cNvSpPr txBox="1"/>
          <p:nvPr/>
        </p:nvSpPr>
        <p:spPr>
          <a:xfrm>
            <a:off x="1632065" y="2778871"/>
            <a:ext cx="2460568" cy="471068"/>
          </a:xfrm>
          <a:prstGeom prst="rect">
            <a:avLst/>
          </a:prstGeom>
          <a:noFill/>
        </p:spPr>
        <p:txBody>
          <a:bodyPr wrap="square" lIns="108000" tIns="108000" rIns="108000" bIns="72000" rtlCol="0" anchor="t">
            <a:spAutoFit/>
          </a:bodyPr>
          <a:lstStyle/>
          <a:p>
            <a:pPr algn="ctr">
              <a:lnSpc>
                <a:spcPct val="94000"/>
              </a:lnSpc>
            </a:pPr>
            <a:r>
              <a:rPr lang="en-US" sz="2000" b="1" dirty="0"/>
              <a:t>REDIS</a:t>
            </a:r>
            <a:endParaRPr lang="en-NG" sz="2000" b="1" dirty="0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3E4689-09EB-1E9D-5A0C-4BAAE782843F}"/>
              </a:ext>
            </a:extLst>
          </p:cNvPr>
          <p:cNvSpPr txBox="1"/>
          <p:nvPr/>
        </p:nvSpPr>
        <p:spPr>
          <a:xfrm>
            <a:off x="1632065" y="1848196"/>
            <a:ext cx="2460568" cy="471068"/>
          </a:xfrm>
          <a:prstGeom prst="rect">
            <a:avLst/>
          </a:prstGeom>
          <a:noFill/>
        </p:spPr>
        <p:txBody>
          <a:bodyPr wrap="square" lIns="108000" tIns="108000" rIns="108000" bIns="72000" rtlCol="0" anchor="t">
            <a:spAutoFit/>
          </a:bodyPr>
          <a:lstStyle/>
          <a:p>
            <a:pPr algn="ctr">
              <a:lnSpc>
                <a:spcPct val="94000"/>
              </a:lnSpc>
            </a:pPr>
            <a:r>
              <a:rPr lang="en-US" sz="2000" b="1" dirty="0"/>
              <a:t>REQUEST</a:t>
            </a:r>
            <a:endParaRPr lang="en-NG" sz="2000" b="1" dirty="0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9E925-5453-6AE7-ECCF-FE82ABE0C6E1}"/>
              </a:ext>
            </a:extLst>
          </p:cNvPr>
          <p:cNvSpPr txBox="1"/>
          <p:nvPr/>
        </p:nvSpPr>
        <p:spPr>
          <a:xfrm>
            <a:off x="3094772" y="3904198"/>
            <a:ext cx="2460568" cy="471068"/>
          </a:xfrm>
          <a:prstGeom prst="rect">
            <a:avLst/>
          </a:prstGeom>
          <a:noFill/>
        </p:spPr>
        <p:txBody>
          <a:bodyPr wrap="square" lIns="108000" tIns="108000" rIns="108000" bIns="72000" rtlCol="0" anchor="t">
            <a:spAutoFit/>
          </a:bodyPr>
          <a:lstStyle/>
          <a:p>
            <a:pPr algn="ctr">
              <a:lnSpc>
                <a:spcPct val="94000"/>
              </a:lnSpc>
            </a:pPr>
            <a:r>
              <a:rPr lang="en-US" sz="2000" b="1" dirty="0"/>
              <a:t>MISS</a:t>
            </a:r>
            <a:endParaRPr lang="en-NG" sz="2000" b="1" dirty="0" err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418DAB-1977-BAD8-91C8-087A18580BA4}"/>
              </a:ext>
            </a:extLst>
          </p:cNvPr>
          <p:cNvSpPr txBox="1"/>
          <p:nvPr/>
        </p:nvSpPr>
        <p:spPr>
          <a:xfrm>
            <a:off x="0" y="3904198"/>
            <a:ext cx="2460568" cy="471068"/>
          </a:xfrm>
          <a:prstGeom prst="rect">
            <a:avLst/>
          </a:prstGeom>
          <a:noFill/>
        </p:spPr>
        <p:txBody>
          <a:bodyPr wrap="square" lIns="108000" tIns="108000" rIns="108000" bIns="72000" rtlCol="0" anchor="t">
            <a:spAutoFit/>
          </a:bodyPr>
          <a:lstStyle/>
          <a:p>
            <a:pPr algn="ctr">
              <a:lnSpc>
                <a:spcPct val="94000"/>
              </a:lnSpc>
            </a:pPr>
            <a:r>
              <a:rPr lang="en-US" sz="2000" b="1" dirty="0"/>
              <a:t>HIT</a:t>
            </a:r>
            <a:endParaRPr lang="en-NG" sz="2000" b="1" dirty="0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3EBD00-59F5-BF75-53AE-D0F9B8593424}"/>
              </a:ext>
            </a:extLst>
          </p:cNvPr>
          <p:cNvSpPr txBox="1"/>
          <p:nvPr/>
        </p:nvSpPr>
        <p:spPr>
          <a:xfrm>
            <a:off x="3094772" y="5162204"/>
            <a:ext cx="2460568" cy="471068"/>
          </a:xfrm>
          <a:prstGeom prst="rect">
            <a:avLst/>
          </a:prstGeom>
          <a:noFill/>
        </p:spPr>
        <p:txBody>
          <a:bodyPr wrap="square" lIns="108000" tIns="108000" rIns="108000" bIns="72000" rtlCol="0" anchor="t">
            <a:spAutoFit/>
          </a:bodyPr>
          <a:lstStyle/>
          <a:p>
            <a:pPr algn="ctr">
              <a:lnSpc>
                <a:spcPct val="94000"/>
              </a:lnSpc>
            </a:pPr>
            <a:r>
              <a:rPr lang="en-US" sz="2000" b="1" dirty="0"/>
              <a:t>INFLUXDB</a:t>
            </a:r>
            <a:endParaRPr lang="en-NG" sz="2000" b="1" dirty="0" err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E2851D-B034-CD5C-0C12-7D64341FE96B}"/>
              </a:ext>
            </a:extLst>
          </p:cNvPr>
          <p:cNvSpPr txBox="1"/>
          <p:nvPr/>
        </p:nvSpPr>
        <p:spPr>
          <a:xfrm>
            <a:off x="0" y="5162204"/>
            <a:ext cx="2460568" cy="471068"/>
          </a:xfrm>
          <a:prstGeom prst="rect">
            <a:avLst/>
          </a:prstGeom>
          <a:noFill/>
        </p:spPr>
        <p:txBody>
          <a:bodyPr wrap="square" lIns="108000" tIns="108000" rIns="108000" bIns="72000" rtlCol="0" anchor="t">
            <a:spAutoFit/>
          </a:bodyPr>
          <a:lstStyle/>
          <a:p>
            <a:pPr algn="ctr">
              <a:lnSpc>
                <a:spcPct val="94000"/>
              </a:lnSpc>
            </a:pPr>
            <a:r>
              <a:rPr lang="en-US" sz="2000" b="1" dirty="0"/>
              <a:t>DATA</a:t>
            </a:r>
            <a:endParaRPr lang="en-NG" sz="2000" b="1" dirty="0" err="1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5D20D8E-1058-1FA2-34F9-842979AC47C8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2862349" y="2319264"/>
            <a:ext cx="0" cy="459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94EBC23-DD3D-8C41-E1E6-139883DFCBE5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flipH="1">
            <a:off x="1230284" y="3249939"/>
            <a:ext cx="1632065" cy="654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C8151D2-7A60-9542-3D9B-D1E81AAC3732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2862349" y="3249939"/>
            <a:ext cx="1462707" cy="654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8A3C0FF-5232-FBE8-85FA-7E8D0F2D9CC8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>
            <a:off x="1230284" y="4375266"/>
            <a:ext cx="0" cy="786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C96D892-73FF-6A57-5F4E-D3795D52FF5E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4325056" y="4375266"/>
            <a:ext cx="0" cy="786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6DD24AB-5C98-D49B-9938-151953EF3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5341" y="1581852"/>
            <a:ext cx="5949474" cy="212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240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D00AA-EB59-19B2-6FA0-14ED65953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C132EAB0-B128-DA07-190E-EAD81C203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523" y="903034"/>
            <a:ext cx="5429964" cy="409690"/>
          </a:xfrm>
        </p:spPr>
        <p:txBody>
          <a:bodyPr/>
          <a:lstStyle/>
          <a:p>
            <a:pPr algn="ctr"/>
            <a:r>
              <a:rPr lang="en-GB" b="1" dirty="0"/>
              <a:t>SPARK ANALYTICS PIPELINE</a:t>
            </a:r>
            <a:endParaRPr lang="en-GB" b="1" noProof="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363A33-478C-2FC3-0F60-34823D9F5492}"/>
              </a:ext>
            </a:extLst>
          </p:cNvPr>
          <p:cNvSpPr txBox="1"/>
          <p:nvPr/>
        </p:nvSpPr>
        <p:spPr>
          <a:xfrm>
            <a:off x="615142" y="1312724"/>
            <a:ext cx="4123113" cy="2880189"/>
          </a:xfrm>
          <a:prstGeom prst="rect">
            <a:avLst/>
          </a:prstGeom>
          <a:noFill/>
        </p:spPr>
        <p:txBody>
          <a:bodyPr wrap="square" lIns="108000" tIns="108000" rIns="108000" bIns="72000" rtlCol="0" anchor="t">
            <a:spAutoFit/>
          </a:bodyPr>
          <a:lstStyle/>
          <a:p>
            <a:pPr marL="230400" indent="-230400" algn="l">
              <a:lnSpc>
                <a:spcPct val="150000"/>
              </a:lnSpc>
              <a:buBlip>
                <a:blip r:embed="rId3"/>
              </a:buBlip>
            </a:pPr>
            <a:r>
              <a:rPr lang="en-US" sz="3000" dirty="0"/>
              <a:t>Average temperature</a:t>
            </a:r>
          </a:p>
          <a:p>
            <a:pPr marL="230400" indent="-230400" algn="l">
              <a:lnSpc>
                <a:spcPct val="150000"/>
              </a:lnSpc>
              <a:buBlip>
                <a:blip r:embed="rId3"/>
              </a:buBlip>
            </a:pPr>
            <a:r>
              <a:rPr lang="en-US" sz="3000" dirty="0"/>
              <a:t>CPU usage</a:t>
            </a:r>
          </a:p>
          <a:p>
            <a:pPr marL="230400" indent="-230400" algn="l">
              <a:lnSpc>
                <a:spcPct val="150000"/>
              </a:lnSpc>
              <a:buBlip>
                <a:blip r:embed="rId3"/>
              </a:buBlip>
            </a:pPr>
            <a:r>
              <a:rPr lang="en-US" sz="3000" dirty="0"/>
              <a:t>Energy consumption</a:t>
            </a:r>
          </a:p>
          <a:p>
            <a:pPr marL="230400" indent="-230400" algn="l">
              <a:lnSpc>
                <a:spcPct val="150000"/>
              </a:lnSpc>
              <a:buBlip>
                <a:blip r:embed="rId3"/>
              </a:buBlip>
            </a:pPr>
            <a:r>
              <a:rPr lang="en-US" sz="3000" dirty="0"/>
              <a:t>Humidity</a:t>
            </a:r>
            <a:endParaRPr lang="en-NG" sz="3000" dirty="0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B6B481-B7EE-3CEC-78CF-E55AD7001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651" y="1312724"/>
            <a:ext cx="6057207" cy="487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183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8BA12-A8A3-6FC5-21ED-719B7D5D4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33E9154D-B508-6CD4-6F77-D0B7305E7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523" y="903034"/>
            <a:ext cx="5429964" cy="409690"/>
          </a:xfrm>
        </p:spPr>
        <p:txBody>
          <a:bodyPr/>
          <a:lstStyle/>
          <a:p>
            <a:pPr algn="ctr"/>
            <a:r>
              <a:rPr lang="en-GB" b="1" dirty="0"/>
              <a:t>DOCKER DEPLOYMENT</a:t>
            </a:r>
            <a:endParaRPr lang="en-GB" b="1" noProof="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F52B19-11C5-50EA-6F85-EE4D5ED02815}"/>
              </a:ext>
            </a:extLst>
          </p:cNvPr>
          <p:cNvSpPr txBox="1"/>
          <p:nvPr/>
        </p:nvSpPr>
        <p:spPr>
          <a:xfrm>
            <a:off x="615142" y="1312724"/>
            <a:ext cx="4705003" cy="3572686"/>
          </a:xfrm>
          <a:prstGeom prst="rect">
            <a:avLst/>
          </a:prstGeom>
          <a:noFill/>
        </p:spPr>
        <p:txBody>
          <a:bodyPr wrap="square" lIns="108000" tIns="108000" rIns="108000" bIns="72000" rtlCol="0" anchor="t">
            <a:spAutoFit/>
          </a:bodyPr>
          <a:lstStyle/>
          <a:p>
            <a:pPr marL="230400" indent="-230400" algn="l">
              <a:lnSpc>
                <a:spcPct val="150000"/>
              </a:lnSpc>
              <a:buBlip>
                <a:blip r:embed="rId3"/>
              </a:buBlip>
            </a:pPr>
            <a:r>
              <a:rPr lang="en-US" sz="3000" dirty="0"/>
              <a:t>Docker provides:</a:t>
            </a:r>
          </a:p>
          <a:p>
            <a:pPr marL="687600" lvl="1" indent="-230400">
              <a:lnSpc>
                <a:spcPct val="150000"/>
              </a:lnSpc>
              <a:buBlip>
                <a:blip r:embed="rId3"/>
              </a:buBlip>
            </a:pPr>
            <a:r>
              <a:rPr lang="en-US" sz="3000" dirty="0"/>
              <a:t>Reproducibility</a:t>
            </a:r>
          </a:p>
          <a:p>
            <a:pPr marL="687600" lvl="1" indent="-230400">
              <a:lnSpc>
                <a:spcPct val="150000"/>
              </a:lnSpc>
              <a:buBlip>
                <a:blip r:embed="rId3"/>
              </a:buBlip>
            </a:pPr>
            <a:r>
              <a:rPr lang="en-US" sz="3000" dirty="0"/>
              <a:t>Isolation</a:t>
            </a:r>
          </a:p>
          <a:p>
            <a:pPr marL="687600" lvl="1" indent="-230400">
              <a:lnSpc>
                <a:spcPct val="150000"/>
              </a:lnSpc>
              <a:buBlip>
                <a:blip r:embed="rId3"/>
              </a:buBlip>
            </a:pPr>
            <a:r>
              <a:rPr lang="en-US" sz="3000" dirty="0"/>
              <a:t>Portability</a:t>
            </a:r>
          </a:p>
          <a:p>
            <a:pPr marL="687600" lvl="1" indent="-230400">
              <a:lnSpc>
                <a:spcPct val="150000"/>
              </a:lnSpc>
              <a:buBlip>
                <a:blip r:embed="rId3"/>
              </a:buBlip>
            </a:pPr>
            <a:r>
              <a:rPr lang="en-US" sz="3000" dirty="0"/>
              <a:t>Simplified deployment</a:t>
            </a:r>
            <a:endParaRPr lang="en-NG" sz="3000" dirty="0" err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3BBE10-A437-0777-75E9-88B5CC823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145" y="3699165"/>
            <a:ext cx="6370873" cy="26583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BAC56D-2054-CCB2-228C-F67FF66DC3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0144" y="1345384"/>
            <a:ext cx="6370873" cy="232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477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DCB2F-86BE-F472-477F-34369F04A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C1D770-1DB8-7A35-13B3-3D6230FB02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2663" y="1411287"/>
            <a:ext cx="9974262" cy="2811577"/>
          </a:xfrm>
        </p:spPr>
        <p:txBody>
          <a:bodyPr/>
          <a:lstStyle/>
          <a:p>
            <a:pPr marL="0" indent="0" algn="ctr">
              <a:buNone/>
            </a:pPr>
            <a:r>
              <a:rPr lang="en-GB" sz="6000" b="1" noProof="0" dirty="0"/>
              <a:t>SECTION 4</a:t>
            </a:r>
          </a:p>
          <a:p>
            <a:pPr marL="0" indent="0" algn="ctr">
              <a:buNone/>
            </a:pPr>
            <a:r>
              <a:rPr lang="en-GB" sz="6000" b="1" dirty="0"/>
              <a:t>ANALYTICS, ANOMALY DETECTION &amp; DASHBOARD</a:t>
            </a:r>
            <a:endParaRPr lang="en-GB" sz="6000" b="1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12A096-C7D8-3E69-C4E6-F50BC2BE1330}"/>
              </a:ext>
            </a:extLst>
          </p:cNvPr>
          <p:cNvCxnSpPr/>
          <p:nvPr/>
        </p:nvCxnSpPr>
        <p:spPr>
          <a:xfrm>
            <a:off x="1330036" y="2244434"/>
            <a:ext cx="942663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838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7D4C7-B69E-87F1-EF93-CA40B6CD6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C36ACA46-6C32-F4D5-4124-11E73F175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523" y="903034"/>
            <a:ext cx="5429964" cy="409690"/>
          </a:xfrm>
        </p:spPr>
        <p:txBody>
          <a:bodyPr/>
          <a:lstStyle/>
          <a:p>
            <a:pPr algn="ctr"/>
            <a:r>
              <a:rPr lang="en-GB" b="1" dirty="0"/>
              <a:t>SPARK ANALYTICS RESULTS</a:t>
            </a:r>
            <a:endParaRPr lang="en-GB" b="1" noProof="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CF11FC-200C-AA96-C516-65EB1AC8B7D1}"/>
              </a:ext>
            </a:extLst>
          </p:cNvPr>
          <p:cNvSpPr txBox="1"/>
          <p:nvPr/>
        </p:nvSpPr>
        <p:spPr>
          <a:xfrm>
            <a:off x="615142" y="1778924"/>
            <a:ext cx="4123113" cy="2187692"/>
          </a:xfrm>
          <a:prstGeom prst="rect">
            <a:avLst/>
          </a:prstGeom>
          <a:noFill/>
        </p:spPr>
        <p:txBody>
          <a:bodyPr wrap="square" lIns="108000" tIns="108000" rIns="108000" bIns="72000" rtlCol="0" anchor="t">
            <a:spAutoFit/>
          </a:bodyPr>
          <a:lstStyle/>
          <a:p>
            <a:pPr marL="230400" indent="-230400" algn="l">
              <a:lnSpc>
                <a:spcPct val="150000"/>
              </a:lnSpc>
              <a:buBlip>
                <a:blip r:embed="rId3"/>
              </a:buBlip>
            </a:pPr>
            <a:r>
              <a:rPr lang="en-US" sz="3000" dirty="0"/>
              <a:t>Average temperatures</a:t>
            </a:r>
          </a:p>
          <a:p>
            <a:pPr marL="230400" indent="-230400" algn="l">
              <a:lnSpc>
                <a:spcPct val="150000"/>
              </a:lnSpc>
              <a:buBlip>
                <a:blip r:embed="rId3"/>
              </a:buBlip>
            </a:pPr>
            <a:r>
              <a:rPr lang="en-US" sz="3000" dirty="0"/>
              <a:t>CPU trends</a:t>
            </a:r>
          </a:p>
          <a:p>
            <a:pPr marL="230400" indent="-230400" algn="l">
              <a:lnSpc>
                <a:spcPct val="150000"/>
              </a:lnSpc>
              <a:buBlip>
                <a:blip r:embed="rId3"/>
              </a:buBlip>
            </a:pPr>
            <a:r>
              <a:rPr lang="en-US" sz="3000" dirty="0"/>
              <a:t>Energy patterns</a:t>
            </a:r>
            <a:endParaRPr lang="en-NG" sz="3000" dirty="0" err="1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25AB42F-130C-3AB4-9CC5-F710274DF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254" y="1531359"/>
            <a:ext cx="6838603" cy="398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662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EF79F-C8C5-88C9-5EFC-6890F2763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CFBE3AC3-80C0-A8D0-B744-B4AF0A794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523" y="1146156"/>
            <a:ext cx="5429964" cy="409690"/>
          </a:xfrm>
        </p:spPr>
        <p:txBody>
          <a:bodyPr/>
          <a:lstStyle/>
          <a:p>
            <a:pPr algn="ctr"/>
            <a:r>
              <a:rPr lang="en-GB" b="1" dirty="0"/>
              <a:t>ANOMALY DETECTION</a:t>
            </a:r>
            <a:endParaRPr lang="en-GB" b="1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1EA8D6D-5A64-2B7E-30D3-D7D9ADC90DF1}"/>
                  </a:ext>
                </a:extLst>
              </p:cNvPr>
              <p:cNvSpPr txBox="1"/>
              <p:nvPr/>
            </p:nvSpPr>
            <p:spPr>
              <a:xfrm>
                <a:off x="615142" y="1778924"/>
                <a:ext cx="5054138" cy="3905726"/>
              </a:xfrm>
              <a:prstGeom prst="rect">
                <a:avLst/>
              </a:prstGeom>
              <a:noFill/>
            </p:spPr>
            <p:txBody>
              <a:bodyPr wrap="square" lIns="108000" tIns="108000" rIns="108000" bIns="72000" rtlCol="0" anchor="t">
                <a:spAutoFit/>
              </a:bodyPr>
              <a:lstStyle/>
              <a:p>
                <a:pPr marL="230400" indent="-230400" algn="l">
                  <a:lnSpc>
                    <a:spcPct val="150000"/>
                  </a:lnSpc>
                  <a:buBlip>
                    <a:blip r:embed="rId3"/>
                  </a:buBlip>
                </a:pPr>
                <a:r>
                  <a:rPr lang="en-US" sz="3000" dirty="0"/>
                  <a:t>Rule-based:</a:t>
                </a:r>
              </a:p>
              <a:p>
                <a:pPr marL="687600" lvl="1" indent="-230400">
                  <a:lnSpc>
                    <a:spcPct val="150000"/>
                  </a:lnSpc>
                  <a:buBlip>
                    <a:blip r:embed="rId3"/>
                  </a:buBlip>
                </a:pPr>
                <a:r>
                  <a:rPr lang="en-US" sz="3000" dirty="0"/>
                  <a:t>Temperature &gt; 26 degrees</a:t>
                </a:r>
              </a:p>
              <a:p>
                <a:pPr marL="687600" lvl="1" indent="-230400">
                  <a:lnSpc>
                    <a:spcPct val="150000"/>
                  </a:lnSpc>
                  <a:buBlip>
                    <a:blip r:embed="rId3"/>
                  </a:buBlip>
                </a:pPr>
                <a:r>
                  <a:rPr lang="en-US" sz="3000" dirty="0"/>
                  <a:t>CPU &gt; 55%</a:t>
                </a:r>
              </a:p>
              <a:p>
                <a:pPr marL="230400" indent="-230400" algn="l">
                  <a:lnSpc>
                    <a:spcPct val="150000"/>
                  </a:lnSpc>
                  <a:buBlip>
                    <a:blip r:embed="rId3"/>
                  </a:buBlip>
                </a:pPr>
                <a:r>
                  <a:rPr lang="en-US" sz="3000" dirty="0"/>
                  <a:t>Statistical:</a:t>
                </a:r>
              </a:p>
              <a:p>
                <a:pPr marL="687600" lvl="1" indent="-230400">
                  <a:lnSpc>
                    <a:spcPct val="150000"/>
                  </a:lnSpc>
                  <a:buBlip>
                    <a:blip r:embed="rId3"/>
                  </a:buBlip>
                </a:pP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NG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( 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el-GR" sz="300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l-GR" sz="3000" i="1">
                            <a:latin typeface="Cambria Math" panose="02040503050406030204" pitchFamily="18" charset="0"/>
                          </a:rPr>
                          <m:t> )</m:t>
                        </m:r>
                      </m:num>
                      <m:den>
                        <m:r>
                          <a:rPr lang="el-GR" sz="3000" i="1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endParaRPr lang="en-NG" sz="3000" dirty="0" err="1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1EA8D6D-5A64-2B7E-30D3-D7D9ADC90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42" y="1778924"/>
                <a:ext cx="5054138" cy="3905726"/>
              </a:xfrm>
              <a:prstGeom prst="rect">
                <a:avLst/>
              </a:prstGeom>
              <a:blipFill>
                <a:blip r:embed="rId4"/>
                <a:stretch>
                  <a:fillRect r="-483"/>
                </a:stretch>
              </a:blipFill>
            </p:spPr>
            <p:txBody>
              <a:bodyPr/>
              <a:lstStyle/>
              <a:p>
                <a:r>
                  <a:rPr lang="en-N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489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16CA0-B65B-F44C-5798-3D43AD54B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F93ACDAB-F3EA-1D62-E7C2-C42574C78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523" y="1146156"/>
            <a:ext cx="5429964" cy="409690"/>
          </a:xfrm>
        </p:spPr>
        <p:txBody>
          <a:bodyPr/>
          <a:lstStyle/>
          <a:p>
            <a:pPr algn="ctr"/>
            <a:r>
              <a:rPr lang="en-GB" b="1" dirty="0"/>
              <a:t>DASHBOARD OVERVIEW</a:t>
            </a:r>
            <a:endParaRPr lang="en-GB" b="1" noProof="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59432D-A33F-A938-30C6-60F1F8E17657}"/>
              </a:ext>
            </a:extLst>
          </p:cNvPr>
          <p:cNvSpPr txBox="1"/>
          <p:nvPr/>
        </p:nvSpPr>
        <p:spPr>
          <a:xfrm>
            <a:off x="615142" y="1778924"/>
            <a:ext cx="5054138" cy="3572686"/>
          </a:xfrm>
          <a:prstGeom prst="rect">
            <a:avLst/>
          </a:prstGeom>
          <a:noFill/>
        </p:spPr>
        <p:txBody>
          <a:bodyPr wrap="square" lIns="108000" tIns="108000" rIns="108000" bIns="72000" rtlCol="0" anchor="t">
            <a:spAutoFit/>
          </a:bodyPr>
          <a:lstStyle/>
          <a:p>
            <a:pPr marL="230400" indent="-230400" algn="l">
              <a:lnSpc>
                <a:spcPct val="150000"/>
              </a:lnSpc>
              <a:buBlip>
                <a:blip r:embed="rId3"/>
              </a:buBlip>
            </a:pPr>
            <a:r>
              <a:rPr lang="en-US" sz="3000" dirty="0"/>
              <a:t>Features:</a:t>
            </a:r>
          </a:p>
          <a:p>
            <a:pPr marL="687600" lvl="1" indent="-230400">
              <a:lnSpc>
                <a:spcPct val="150000"/>
              </a:lnSpc>
              <a:buBlip>
                <a:blip r:embed="rId3"/>
              </a:buBlip>
            </a:pPr>
            <a:r>
              <a:rPr lang="en-US" sz="3000" dirty="0"/>
              <a:t>Real-time updates</a:t>
            </a:r>
          </a:p>
          <a:p>
            <a:pPr marL="687600" lvl="1" indent="-230400">
              <a:lnSpc>
                <a:spcPct val="150000"/>
              </a:lnSpc>
              <a:buBlip>
                <a:blip r:embed="rId3"/>
              </a:buBlip>
            </a:pPr>
            <a:r>
              <a:rPr lang="en-US" sz="3000" dirty="0"/>
              <a:t>KPI cards</a:t>
            </a:r>
          </a:p>
          <a:p>
            <a:pPr marL="687600" lvl="1" indent="-230400">
              <a:lnSpc>
                <a:spcPct val="150000"/>
              </a:lnSpc>
              <a:buBlip>
                <a:blip r:embed="rId3"/>
              </a:buBlip>
            </a:pPr>
            <a:r>
              <a:rPr lang="en-US" sz="3000" dirty="0"/>
              <a:t>Health indicators</a:t>
            </a:r>
          </a:p>
          <a:p>
            <a:pPr marL="687600" lvl="1" indent="-230400">
              <a:lnSpc>
                <a:spcPct val="150000"/>
              </a:lnSpc>
              <a:buBlip>
                <a:blip r:embed="rId3"/>
              </a:buBlip>
            </a:pPr>
            <a:r>
              <a:rPr lang="en-US" sz="3000" dirty="0" err="1"/>
              <a:t>Visualisations</a:t>
            </a:r>
            <a:endParaRPr lang="en-NG" sz="3000" dirty="0" err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85E337-C5DF-0DFA-E191-14F5DDAB5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382" y="1778924"/>
            <a:ext cx="6755476" cy="379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050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0F12A-E363-6748-A535-F07213261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1F2C6EDC-7ECC-C1A1-BD7E-FC8C669BF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523" y="1146156"/>
            <a:ext cx="5429964" cy="409690"/>
          </a:xfrm>
        </p:spPr>
        <p:txBody>
          <a:bodyPr/>
          <a:lstStyle/>
          <a:p>
            <a:pPr algn="ctr"/>
            <a:r>
              <a:rPr lang="en-GB" b="1" dirty="0"/>
              <a:t>DASHBOARD VISUALISATIONS</a:t>
            </a:r>
            <a:endParaRPr lang="en-GB" b="1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3A714D-29F3-97D4-C69C-A5A52CEA6A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81" y="1653974"/>
            <a:ext cx="5320319" cy="40578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A9CC1D-694A-C2E3-86FA-5C457F4EC0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345" y="1653974"/>
            <a:ext cx="5208974" cy="405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620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B3446-AC8B-ED76-54BE-DF142692B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0A3BB45-0D05-08F5-EC59-11CF1FF70B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2663" y="1411287"/>
            <a:ext cx="9974262" cy="2811577"/>
          </a:xfrm>
        </p:spPr>
        <p:txBody>
          <a:bodyPr/>
          <a:lstStyle/>
          <a:p>
            <a:pPr marL="0" indent="0" algn="ctr">
              <a:buNone/>
            </a:pPr>
            <a:r>
              <a:rPr lang="en-GB" sz="6000" b="1" noProof="0" dirty="0"/>
              <a:t>SECTION </a:t>
            </a:r>
            <a:r>
              <a:rPr lang="en-GB" sz="6000" b="1" dirty="0"/>
              <a:t>5</a:t>
            </a:r>
            <a:endParaRPr lang="en-GB" sz="6000" b="1" noProof="0" dirty="0"/>
          </a:p>
          <a:p>
            <a:pPr marL="0" indent="0" algn="ctr">
              <a:buNone/>
            </a:pPr>
            <a:r>
              <a:rPr lang="en-GB" sz="6000" b="1" dirty="0"/>
              <a:t>EVALUATION &amp; REFLECTION</a:t>
            </a:r>
            <a:endParaRPr lang="en-GB" sz="6000" b="1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242DE-E800-90E9-A6D8-F182CD3463EB}"/>
              </a:ext>
            </a:extLst>
          </p:cNvPr>
          <p:cNvCxnSpPr/>
          <p:nvPr/>
        </p:nvCxnSpPr>
        <p:spPr>
          <a:xfrm>
            <a:off x="1330036" y="2244434"/>
            <a:ext cx="942663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583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6A3FB-BDA4-739A-E456-EF3BD8573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7456B5D1-3E97-B95B-748E-3A2AA83C8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3011" y="1146156"/>
            <a:ext cx="8118764" cy="409690"/>
          </a:xfrm>
        </p:spPr>
        <p:txBody>
          <a:bodyPr/>
          <a:lstStyle/>
          <a:p>
            <a:pPr algn="ctr"/>
            <a:r>
              <a:rPr lang="en-GB" b="1" noProof="0" dirty="0"/>
              <a:t>Performance Evaluation </a:t>
            </a:r>
            <a:r>
              <a:rPr lang="en-GB" b="1" dirty="0"/>
              <a:t>Methodology</a:t>
            </a:r>
            <a:endParaRPr lang="en-GB" b="1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64F8B5-D26B-090B-BFD8-D3470A7289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2" t="3542" r="1301" b="42593"/>
          <a:stretch>
            <a:fillRect/>
          </a:stretch>
        </p:blipFill>
        <p:spPr>
          <a:xfrm>
            <a:off x="4838007" y="1555846"/>
            <a:ext cx="6533804" cy="41559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7F67A4-3792-2124-5600-1DA738BF7C62}"/>
              </a:ext>
            </a:extLst>
          </p:cNvPr>
          <p:cNvSpPr txBox="1"/>
          <p:nvPr/>
        </p:nvSpPr>
        <p:spPr>
          <a:xfrm>
            <a:off x="714894" y="1965536"/>
            <a:ext cx="4123113" cy="4161693"/>
          </a:xfrm>
          <a:prstGeom prst="rect">
            <a:avLst/>
          </a:prstGeom>
          <a:noFill/>
        </p:spPr>
        <p:txBody>
          <a:bodyPr wrap="square" lIns="108000" tIns="108000" rIns="108000" bIns="72000" rtlCol="0" anchor="t">
            <a:spAutoFit/>
          </a:bodyPr>
          <a:lstStyle/>
          <a:p>
            <a:pPr marL="230400" indent="-230400" algn="l">
              <a:lnSpc>
                <a:spcPct val="150000"/>
              </a:lnSpc>
              <a:buBlip>
                <a:blip r:embed="rId4"/>
              </a:buBlip>
            </a:pPr>
            <a:r>
              <a:rPr lang="en-US" sz="2500" b="1" dirty="0"/>
              <a:t>Evaluation Setup</a:t>
            </a:r>
          </a:p>
          <a:p>
            <a:pPr marL="687600" lvl="1" indent="-230400">
              <a:lnSpc>
                <a:spcPct val="150000"/>
              </a:lnSpc>
              <a:buBlip>
                <a:blip r:embed="rId4"/>
              </a:buBlip>
            </a:pPr>
            <a:r>
              <a:rPr lang="en-US" sz="2500" dirty="0"/>
              <a:t>Same query</a:t>
            </a:r>
          </a:p>
          <a:p>
            <a:pPr marL="687600" lvl="1" indent="-230400">
              <a:lnSpc>
                <a:spcPct val="150000"/>
              </a:lnSpc>
              <a:buBlip>
                <a:blip r:embed="rId4"/>
              </a:buBlip>
            </a:pPr>
            <a:r>
              <a:rPr lang="en-US" sz="2500" dirty="0"/>
              <a:t>Same dataset</a:t>
            </a:r>
          </a:p>
          <a:p>
            <a:pPr marL="687600" lvl="1" indent="-230400">
              <a:lnSpc>
                <a:spcPct val="150000"/>
              </a:lnSpc>
              <a:buBlip>
                <a:blip r:embed="rId4"/>
              </a:buBlip>
            </a:pPr>
            <a:r>
              <a:rPr lang="en-US" sz="2500" dirty="0"/>
              <a:t>Measured using Python timer</a:t>
            </a:r>
          </a:p>
          <a:p>
            <a:pPr marL="687600" lvl="1" indent="-230400">
              <a:lnSpc>
                <a:spcPct val="150000"/>
              </a:lnSpc>
              <a:buBlip>
                <a:blip r:embed="rId4"/>
              </a:buBlip>
            </a:pPr>
            <a:r>
              <a:rPr lang="en-US" sz="2500" dirty="0"/>
              <a:t>Tested cold cache</a:t>
            </a:r>
          </a:p>
          <a:p>
            <a:pPr marL="687600" lvl="1" indent="-230400">
              <a:lnSpc>
                <a:spcPct val="150000"/>
              </a:lnSpc>
              <a:buBlip>
                <a:blip r:embed="rId4"/>
              </a:buBlip>
            </a:pPr>
            <a:r>
              <a:rPr lang="en-US" sz="2500" dirty="0"/>
              <a:t>Tested warm cache</a:t>
            </a:r>
            <a:endParaRPr lang="en-NG" sz="2500" dirty="0" err="1"/>
          </a:p>
        </p:txBody>
      </p:sp>
    </p:spTree>
    <p:extLst>
      <p:ext uri="{BB962C8B-B14F-4D97-AF65-F5344CB8AC3E}">
        <p14:creationId xmlns:p14="http://schemas.microsoft.com/office/powerpoint/2010/main" val="22377694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B24ED-B490-624D-A5DA-8E3CB6FB7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06B4AF22-B79D-C219-CCCB-B138A7F9A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523" y="1146156"/>
            <a:ext cx="5429964" cy="409690"/>
          </a:xfrm>
        </p:spPr>
        <p:txBody>
          <a:bodyPr/>
          <a:lstStyle/>
          <a:p>
            <a:pPr algn="ctr"/>
            <a:r>
              <a:rPr lang="en-GB" b="1" dirty="0" err="1"/>
              <a:t>PeRFORMANCE</a:t>
            </a:r>
            <a:r>
              <a:rPr lang="en-GB" b="1" dirty="0"/>
              <a:t> RESULTS</a:t>
            </a:r>
            <a:endParaRPr lang="en-GB" b="1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55EED9-2466-FA96-0BEB-829EA9C2A2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227" t="9697" r="15455" b="38667"/>
          <a:stretch>
            <a:fillRect/>
          </a:stretch>
        </p:blipFill>
        <p:spPr>
          <a:xfrm>
            <a:off x="1931323" y="1555846"/>
            <a:ext cx="8329354" cy="354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9919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A9A68-2C45-F701-2603-62CA7ED5B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0A8B407A-FFE8-E0F8-BBA8-678D02B42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523" y="1146156"/>
            <a:ext cx="5429964" cy="409690"/>
          </a:xfrm>
        </p:spPr>
        <p:txBody>
          <a:bodyPr/>
          <a:lstStyle/>
          <a:p>
            <a:pPr algn="ctr"/>
            <a:r>
              <a:rPr lang="en-GB" b="1" dirty="0"/>
              <a:t>SYSTEM EVALUATION</a:t>
            </a:r>
            <a:endParaRPr lang="en-GB" b="1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565889-4C48-FB3B-CD42-5DE3DABE17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500" t="9939" r="16818" b="9818"/>
          <a:stretch>
            <a:fillRect/>
          </a:stretch>
        </p:blipFill>
        <p:spPr>
          <a:xfrm>
            <a:off x="2331720" y="1555846"/>
            <a:ext cx="7528560" cy="475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9359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787ED-F91C-B143-9B08-A7D0AE1B6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79A24A44-2CF6-87A6-FDE8-46352666B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698" y="1146156"/>
            <a:ext cx="5978604" cy="409690"/>
          </a:xfrm>
        </p:spPr>
        <p:txBody>
          <a:bodyPr/>
          <a:lstStyle/>
          <a:p>
            <a:pPr algn="ctr"/>
            <a:r>
              <a:rPr lang="en-GB" b="1" dirty="0"/>
              <a:t>Challenges &amp; lessons Learned</a:t>
            </a:r>
            <a:endParaRPr lang="en-GB" b="1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74FF0C-72C0-91A2-59F4-45DC179396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63" t="10779" r="7766" b="27376"/>
          <a:stretch>
            <a:fillRect/>
          </a:stretch>
        </p:blipFill>
        <p:spPr>
          <a:xfrm>
            <a:off x="891702" y="1555846"/>
            <a:ext cx="10408596" cy="424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4102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AF010-5D9F-2CB1-6DA8-AFF0E0119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6EF26609-753F-BB2E-0416-6FB8D2DFF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6619" y="991841"/>
            <a:ext cx="5370512" cy="522028"/>
          </a:xfrm>
        </p:spPr>
        <p:txBody>
          <a:bodyPr/>
          <a:lstStyle/>
          <a:p>
            <a:pPr algn="ctr"/>
            <a:r>
              <a:rPr lang="en-GB" b="1" noProof="0" dirty="0"/>
              <a:t>FUTURE ENHANCEMENTS</a:t>
            </a:r>
          </a:p>
        </p:txBody>
      </p:sp>
      <p:sp>
        <p:nvSpPr>
          <p:cNvPr id="2" name="Textplatzhalter 3">
            <a:extLst>
              <a:ext uri="{FF2B5EF4-FFF2-40B4-BE49-F238E27FC236}">
                <a16:creationId xmlns:a16="http://schemas.microsoft.com/office/drawing/2014/main" id="{5C37810A-61A4-E81A-BA7E-DF13F9AB60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43740" y="840898"/>
            <a:ext cx="5370511" cy="517620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3200" dirty="0"/>
              <a:t>Machine learning anomaly detection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Grafana dashboards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Spark structured </a:t>
            </a:r>
            <a:r>
              <a:rPr lang="en-US" sz="3200" dirty="0" err="1"/>
              <a:t>streamking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3200" dirty="0"/>
              <a:t>Kubernetes deployment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Cloud infrastructure</a:t>
            </a:r>
            <a:endParaRPr lang="en-GB" sz="3000" noProof="0" dirty="0"/>
          </a:p>
        </p:txBody>
      </p:sp>
    </p:spTree>
    <p:extLst>
      <p:ext uri="{BB962C8B-B14F-4D97-AF65-F5344CB8AC3E}">
        <p14:creationId xmlns:p14="http://schemas.microsoft.com/office/powerpoint/2010/main" val="14642356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03106-B24F-0F99-CEB2-79AD78856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22D121B7-D0BF-164C-D747-B293546F4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6619" y="991841"/>
            <a:ext cx="5370512" cy="522028"/>
          </a:xfrm>
        </p:spPr>
        <p:txBody>
          <a:bodyPr/>
          <a:lstStyle/>
          <a:p>
            <a:pPr algn="ctr"/>
            <a:r>
              <a:rPr lang="en-GB" b="1" noProof="0" dirty="0" err="1"/>
              <a:t>COntributions</a:t>
            </a:r>
            <a:endParaRPr lang="en-GB" b="1" noProof="0" dirty="0"/>
          </a:p>
        </p:txBody>
      </p:sp>
      <p:sp>
        <p:nvSpPr>
          <p:cNvPr id="2" name="Textplatzhalter 3">
            <a:extLst>
              <a:ext uri="{FF2B5EF4-FFF2-40B4-BE49-F238E27FC236}">
                <a16:creationId xmlns:a16="http://schemas.microsoft.com/office/drawing/2014/main" id="{9A6F8613-8D39-D01B-DDB0-C7993241EC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43200" y="1658505"/>
            <a:ext cx="6982690" cy="447628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b="1" dirty="0"/>
              <a:t>✓ </a:t>
            </a:r>
            <a:r>
              <a:rPr lang="en-US" sz="3200" dirty="0"/>
              <a:t>End-to-end Big Data architecture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/>
              <a:t>✓ </a:t>
            </a:r>
            <a:r>
              <a:rPr lang="en-US" sz="3200" dirty="0"/>
              <a:t>Continuous time-series ingestion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/>
              <a:t>✓</a:t>
            </a:r>
            <a:r>
              <a:rPr lang="en-US" sz="3200" dirty="0"/>
              <a:t> Redis caching integration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/>
              <a:t>✓ </a:t>
            </a:r>
            <a:r>
              <a:rPr lang="en-US" sz="3200" dirty="0"/>
              <a:t>Spark analytics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/>
              <a:t>✓ </a:t>
            </a:r>
            <a:r>
              <a:rPr lang="en-US" sz="3200" dirty="0"/>
              <a:t>Real-time dashboard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/>
              <a:t>✓</a:t>
            </a:r>
            <a:r>
              <a:rPr lang="en-US" sz="3200" dirty="0"/>
              <a:t> 96.53% latency reduction</a:t>
            </a:r>
          </a:p>
        </p:txBody>
      </p:sp>
    </p:spTree>
    <p:extLst>
      <p:ext uri="{BB962C8B-B14F-4D97-AF65-F5344CB8AC3E}">
        <p14:creationId xmlns:p14="http://schemas.microsoft.com/office/powerpoint/2010/main" val="2883851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69AEB-68E3-B0DC-0632-BDB907E2F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8606F3FE-C927-1B01-365A-6348D7BA7F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r>
              <a:rPr lang="en-GB" sz="8000" b="1" noProof="0" dirty="0"/>
              <a:t>THANK YOU!</a:t>
            </a:r>
          </a:p>
          <a:p>
            <a:r>
              <a:rPr lang="en-GB" sz="8000" b="1" i="1" noProof="0" dirty="0"/>
              <a:t>DANKE</a:t>
            </a:r>
          </a:p>
        </p:txBody>
      </p:sp>
    </p:spTree>
    <p:extLst>
      <p:ext uri="{BB962C8B-B14F-4D97-AF65-F5344CB8AC3E}">
        <p14:creationId xmlns:p14="http://schemas.microsoft.com/office/powerpoint/2010/main" val="29238812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theme/theme1.xml><?xml version="1.0" encoding="utf-8"?>
<a:theme xmlns:a="http://schemas.openxmlformats.org/drawingml/2006/main" name="HSBI">
  <a:themeElements>
    <a:clrScheme name="_HSBI">
      <a:dk1>
        <a:sysClr val="windowText" lastClr="000000"/>
      </a:dk1>
      <a:lt1>
        <a:sysClr val="window" lastClr="FFFFFF"/>
      </a:lt1>
      <a:dk2>
        <a:srgbClr val="7F7F7F"/>
      </a:dk2>
      <a:lt2>
        <a:srgbClr val="F2F2F2"/>
      </a:lt2>
      <a:accent1>
        <a:srgbClr val="78232D"/>
      </a:accent1>
      <a:accent2>
        <a:srgbClr val="C8A591"/>
      </a:accent2>
      <a:accent3>
        <a:srgbClr val="D7D2C3"/>
      </a:accent3>
      <a:accent4>
        <a:srgbClr val="9BAF87"/>
      </a:accent4>
      <a:accent5>
        <a:srgbClr val="C8C8C8"/>
      </a:accent5>
      <a:accent6>
        <a:srgbClr val="6EAFC8"/>
      </a:accent6>
      <a:hlink>
        <a:srgbClr val="000000"/>
      </a:hlink>
      <a:folHlink>
        <a:srgbClr val="000000"/>
      </a:folHlink>
    </a:clrScheme>
    <a:fontScheme name="_HSBI">
      <a:majorFont>
        <a:latin typeface="HSBI Lausanne 600"/>
        <a:ea typeface=""/>
        <a:cs typeface=""/>
      </a:majorFont>
      <a:minorFont>
        <a:latin typeface="HSBI Lausanne 300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lIns="108000" tIns="108000" rIns="108000" bIns="72000" rtlCol="0" anchor="t"/>
      <a:lstStyle>
        <a:defPPr marL="230400" indent="-230400" algn="l">
          <a:lnSpc>
            <a:spcPct val="94000"/>
          </a:lnSpc>
          <a:buBlip>
            <a:blip xmlns:r="http://schemas.openxmlformats.org/officeDocument/2006/relationships" r:embed="rId1"/>
          </a:buBlip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108000" tIns="108000" rIns="108000" bIns="72000" rtlCol="0" anchor="t">
        <a:spAutoFit/>
      </a:bodyPr>
      <a:lstStyle>
        <a:defPPr marL="230400" indent="-230400" algn="l">
          <a:lnSpc>
            <a:spcPct val="94000"/>
          </a:lnSpc>
          <a:buBlip>
            <a:blip xmlns:r="http://schemas.openxmlformats.org/officeDocument/2006/relationships" r:embed="rId1"/>
          </a:buBlip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6D4B3B0-A653-4F97-AFA2-813D2AEF360B}" vid="{721CAAAA-90C4-463C-952B-53F01C0F8810}"/>
    </a:ext>
  </a:extLst>
</a:theme>
</file>

<file path=ppt/theme/theme2.xml><?xml version="1.0" encoding="utf-8"?>
<a:theme xmlns:a="http://schemas.openxmlformats.org/drawingml/2006/main" name="Office">
  <a:themeElements>
    <a:clrScheme name="_HSBI">
      <a:dk1>
        <a:sysClr val="windowText" lastClr="000000"/>
      </a:dk1>
      <a:lt1>
        <a:sysClr val="window" lastClr="FFFFFF"/>
      </a:lt1>
      <a:dk2>
        <a:srgbClr val="7F7F7F"/>
      </a:dk2>
      <a:lt2>
        <a:srgbClr val="F2F2F2"/>
      </a:lt2>
      <a:accent1>
        <a:srgbClr val="78232D"/>
      </a:accent1>
      <a:accent2>
        <a:srgbClr val="C8A591"/>
      </a:accent2>
      <a:accent3>
        <a:srgbClr val="D7D2C3"/>
      </a:accent3>
      <a:accent4>
        <a:srgbClr val="9BAF87"/>
      </a:accent4>
      <a:accent5>
        <a:srgbClr val="C8C8C8"/>
      </a:accent5>
      <a:accent6>
        <a:srgbClr val="6EAFC8"/>
      </a:accent6>
      <a:hlink>
        <a:srgbClr val="000000"/>
      </a:hlink>
      <a:folHlink>
        <a:srgbClr val="000000"/>
      </a:folHlink>
    </a:clrScheme>
    <a:fontScheme name="_HSBI">
      <a:majorFont>
        <a:latin typeface="HSBI Lausanne 600"/>
        <a:ea typeface=""/>
        <a:cs typeface=""/>
      </a:majorFont>
      <a:minorFont>
        <a:latin typeface="HSBI Lausanne 300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_HSBI">
      <a:dk1>
        <a:sysClr val="windowText" lastClr="000000"/>
      </a:dk1>
      <a:lt1>
        <a:sysClr val="window" lastClr="FFFFFF"/>
      </a:lt1>
      <a:dk2>
        <a:srgbClr val="7F7F7F"/>
      </a:dk2>
      <a:lt2>
        <a:srgbClr val="F2F2F2"/>
      </a:lt2>
      <a:accent1>
        <a:srgbClr val="78232D"/>
      </a:accent1>
      <a:accent2>
        <a:srgbClr val="C8A591"/>
      </a:accent2>
      <a:accent3>
        <a:srgbClr val="D7D2C3"/>
      </a:accent3>
      <a:accent4>
        <a:srgbClr val="9BAF87"/>
      </a:accent4>
      <a:accent5>
        <a:srgbClr val="C8C8C8"/>
      </a:accent5>
      <a:accent6>
        <a:srgbClr val="6EAFC8"/>
      </a:accent6>
      <a:hlink>
        <a:srgbClr val="000000"/>
      </a:hlink>
      <a:folHlink>
        <a:srgbClr val="000000"/>
      </a:folHlink>
    </a:clrScheme>
    <a:fontScheme name="_HSBI">
      <a:majorFont>
        <a:latin typeface="HSBI Lausanne 600"/>
        <a:ea typeface=""/>
        <a:cs typeface=""/>
      </a:majorFont>
      <a:minorFont>
        <a:latin typeface="HSBI Lausanne 300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HSBI_PowerPoint_16x9_Lausanne</Template>
  <TotalTime>21627</TotalTime>
  <Words>1422</Words>
  <Application>Microsoft Office PowerPoint</Application>
  <PresentationFormat>Widescreen</PresentationFormat>
  <Paragraphs>269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Cambria Math</vt:lpstr>
      <vt:lpstr>Courier New</vt:lpstr>
      <vt:lpstr>HSBI Lausanne 300</vt:lpstr>
      <vt:lpstr>HSBI</vt:lpstr>
      <vt:lpstr>Time-Series Analytics with Caching Layer </vt:lpstr>
      <vt:lpstr>AGENDA</vt:lpstr>
      <vt:lpstr>PowerPoint Presentation</vt:lpstr>
      <vt:lpstr>Motivation</vt:lpstr>
      <vt:lpstr>Research problem</vt:lpstr>
      <vt:lpstr>Project objectives</vt:lpstr>
      <vt:lpstr>PowerPoint Presentation</vt:lpstr>
      <vt:lpstr>Why lambda architecture</vt:lpstr>
      <vt:lpstr>SYSTEM architecture</vt:lpstr>
      <vt:lpstr>END-to-end data flow</vt:lpstr>
      <vt:lpstr>TECHNOLOGY SECTION</vt:lpstr>
      <vt:lpstr>PowerPoint Presentation</vt:lpstr>
      <vt:lpstr>DATA MODEL</vt:lpstr>
      <vt:lpstr>INFLUXDB IMPLEMENTATION</vt:lpstr>
      <vt:lpstr>REDIS CACHING MECHANISM</vt:lpstr>
      <vt:lpstr>SPARK ANALYTICS PIPELINE</vt:lpstr>
      <vt:lpstr>DOCKER DEPLOYMENT</vt:lpstr>
      <vt:lpstr>PowerPoint Presentation</vt:lpstr>
      <vt:lpstr>SPARK ANALYTICS RESULTS</vt:lpstr>
      <vt:lpstr>ANOMALY DETECTION</vt:lpstr>
      <vt:lpstr>DASHBOARD OVERVIEW</vt:lpstr>
      <vt:lpstr>DASHBOARD VISUALISATIONS</vt:lpstr>
      <vt:lpstr>PowerPoint Presentation</vt:lpstr>
      <vt:lpstr>Performance Evaluation Methodology</vt:lpstr>
      <vt:lpstr>PeRFORMANCE RESULTS</vt:lpstr>
      <vt:lpstr>SYSTEM EVALUATION</vt:lpstr>
      <vt:lpstr>Challenges &amp; lessons Learned</vt:lpstr>
      <vt:lpstr>FUTURE ENHANCEMENTS</vt:lpstr>
      <vt:lpstr>COntributions</vt:lpstr>
      <vt:lpstr>PowerPoint Presentation</vt:lpstr>
    </vt:vector>
  </TitlesOfParts>
  <Company>Fachhochschule Bielefeld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  in zwei Zeilen</dc:title>
  <dc:creator>Katja Hüppe</dc:creator>
  <cp:lastModifiedBy>Jane Imoke</cp:lastModifiedBy>
  <cp:revision>255</cp:revision>
  <dcterms:created xsi:type="dcterms:W3CDTF">2022-09-29T08:32:32Z</dcterms:created>
  <dcterms:modified xsi:type="dcterms:W3CDTF">2026-06-23T14:09:30Z</dcterms:modified>
</cp:coreProperties>
</file>